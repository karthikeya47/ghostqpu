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564d6f6-f3cd-7fa0-814c-c1e6c9a0681c}">
          <p14:sldIdLst>
            <p14:sldId id="256"/>
          </p14:sldIdLst>
        </p14:section>
        <p14:section name="Problem" id="{c05bb563-4a9e-6b78-9e4b-48370c73df78}">
          <p14:sldIdLst>
            <p14:sldId id="257"/>
          </p14:sldIdLst>
        </p14:section>
        <p14:section name="Approach" id="{4dec25c5-866e-10bd-572f-43f152d5095e}">
          <p14:sldIdLst>
            <p14:sldId id="258"/>
            <p14:sldId id="259"/>
          </p14:sldIdLst>
        </p14:section>
        <p14:section name="Evidence" id="{6815b4a8-bcb1-2fbe-7cc5-fe29bf7c2280}">
          <p14:sldIdLst>
            <p14:sldId id="260"/>
          </p14:sldIdLst>
        </p14:section>
        <p14:section name="Implementation" id="{8fa42974-2ac7-0f52-a766-8e6dc0e058de}">
          <p14:sldIdLst>
            <p14:sldId id="261"/>
          </p14:sldIdLst>
        </p14:section>
        <p14:section name="Results" id="{4e2a9aea-dca1-e24f-9050-0c9776f89712}">
          <p14:sldIdLst>
            <p14:sldId id="262"/>
          </p14:sldIdLst>
        </p14:section>
        <p14:section name="Originality" id="{dcf0cae7-872d-96ac-b87b-e9cf78068d2a}">
          <p14:sldIdLst>
            <p14:sldId id="263"/>
          </p14:sldIdLst>
        </p14:section>
        <p14:section name="Impact" id="{16b507c1-53fb-5035-5f0f-9281a956c61b}">
          <p14:sldIdLst>
            <p14:sldId id="264"/>
            <p14:sldId id="265"/>
          </p14:sldIdLst>
        </p14:section>
        <p14:section name="Close" id="{ef9ff8f8-18c8-2719-58f4-3bcdf188597e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ibm_kingston</c:v>
                </c:pt>
              </c:strCache>
            </c:strRef>
          </c:tx>
          <c:spPr>
            <a:solidFill>
              <a:srgbClr val="5AA0F2"/>
            </a:solidFill>
            <a:ln w="38100" cap="flat">
              <a:solidFill>
                <a:srgbClr val="5AA0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5AA0F2"/>
              </a:solidFill>
              <a:ln w="9525" cap="flat">
                <a:solidFill>
                  <a:srgbClr val="5AA0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32</c:v>
                  </c:pt>
                  <c:pt idx="5">
                    <c:v>64</c:v>
                  </c:pt>
                  <c:pt idx="6">
                    <c:v>128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0.003</c:v>
                </c:pt>
                <c:pt idx="2">
                  <c:v>0.011</c:v>
                </c:pt>
                <c:pt idx="3">
                  <c:v>0.025</c:v>
                </c:pt>
                <c:pt idx="4">
                  <c:v>0.076</c:v>
                </c:pt>
                <c:pt idx="5">
                  <c:v>0.348</c:v>
                </c:pt>
                <c:pt idx="6">
                  <c:v>0.906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Forger (calibration-matched)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32</c:v>
                  </c:pt>
                  <c:pt idx="5">
                    <c:v>64</c:v>
                  </c:pt>
                  <c:pt idx="6">
                    <c:v>128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0.003</c:v>
                </c:pt>
                <c:pt idx="1">
                  <c:v>0.001</c:v>
                </c:pt>
                <c:pt idx="2">
                  <c:v>0.004</c:v>
                </c:pt>
                <c:pt idx="3">
                  <c:v>0.005</c:v>
                </c:pt>
                <c:pt idx="4">
                  <c:v>0.01</c:v>
                </c:pt>
                <c:pt idx="5">
                  <c:v>0.011</c:v>
                </c:pt>
                <c:pt idx="6">
                  <c:v>0.024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8AA3C0"/>
                    </a:solidFill>
                    <a:latin typeface="Arial"/>
                  </a:defRPr>
                </a:pPr>
                <a:r>
                  <a:rPr sz="1300" b="0" i="0" u="none" strike="noStrike">
                    <a:solidFill>
                      <a:srgbClr val="8AA3C0"/>
                    </a:solidFill>
                    <a:latin typeface="Arial"/>
                  </a:rPr>
                  <a:t>X gates applied (N)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AA3C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1B3A5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8AA3C0"/>
                    </a:solidFill>
                    <a:latin typeface="Arial"/>
                  </a:defRPr>
                </a:pPr>
                <a:r>
                  <a:rPr sz="1300" b="0" i="0" u="none" strike="noStrike">
                    <a:solidFill>
                      <a:srgbClr val="8AA3C0"/>
                    </a:solidFill>
                    <a:latin typeface="Arial"/>
                  </a:rPr>
                  <a:t>P(target reads wrong)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AA3C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EAF4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4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AF4FF"/>
                </a:solidFill>
                <a:latin typeface="+mn-lt"/>
              </a:rPr>
              <a:t>P(mirror circuit returns all zeros)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hardware</c:v>
                </c:pt>
              </c:strCache>
            </c:strRef>
          </c:tx>
          <c:spPr>
            <a:solidFill>
              <a:srgbClr val="5AA0F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AF4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marrakesh</c:v>
                  </c:pt>
                  <c:pt idx="1">
                    <c:v>kingston</c:v>
                  </c:pt>
                  <c:pt idx="2">
                    <c:v>fez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0.756</c:v>
                </c:pt>
                <c:pt idx="1">
                  <c:v>0.875</c:v>
                </c:pt>
                <c:pt idx="2">
                  <c:v>0.762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Forger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AF4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marrakesh</c:v>
                  </c:pt>
                  <c:pt idx="1">
                    <c:v>kingston</c:v>
                  </c:pt>
                  <c:pt idx="2">
                    <c:v>fez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0.879</c:v>
                </c:pt>
                <c:pt idx="1">
                  <c:v>0.912</c:v>
                </c:pt>
                <c:pt idx="2">
                  <c:v>0.878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300" u="none">
                  <a:solidFill>
                    <a:srgbClr val="EAF4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AA3C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6350" cap="flat">
              <a:solidFill>
                <a:srgbClr val="1B3A5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AA3C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EAF4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site on the problem chapter. One line: cloud quantum time can be faked with a simulator built from IBM's public calibration data, and we catch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matters: QPU time is billed per second through resellers. A per-job check did not exist. Cryptographic verification needs far bigger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site chapter 2, click Reveal the Canaries. The customer's own results are never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site chapter 2 Bloch sphere, press Apply 128 X gates. Real qubit swings away, the Forger's state barely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Kingston job K1, 29 October, mean over 4 qubit pairs. Fez is caught mainly by crosstalk, marrakesh by a mix. Demo: site chapter 3, Run a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library (qiskit, qiskit-ibm-runtime, Aer, scikit-learn), Next.js site with the real data. 57 IBM jobs across 3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Honest: with zero errors in 20 real jobs the 95% upper bound on the false-positive rate is still 0.14. Closest calls J3 and J4 (0.36, 0.43): the same qubits after recalibration score 0.00.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judge question: can't the provider spot the Canaries and run only those on hardware? Running Canaries on hardware already costs QPU time; disguised Canaries remove the tell.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IBM bills about 2 s fixed overhead per job on top of Canary time; a full 250-shot job billed 4 to 5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these limits first makes the claims more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site's Break it chapter: let a judge slide fake physics into a forged job and watch the real frozen Detector rescore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30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30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GhostQPU · Q-Hack India 2026 · Team lwyrup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030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GhostQPU · Q-Hack India 2026 · Team lwyrup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ault-rib-0"/>
          <p:cNvSpPr/>
          <p:nvPr/>
        </p:nvSpPr>
        <p:spPr>
          <a:xfrm>
            <a:off x="5001768" y="2560320"/>
            <a:ext cx="2194560" cy="91440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22000"/>
              </a:srgbClr>
            </a:solidFill>
            <a:prstDash val="solid"/>
          </a:ln>
        </p:spPr>
      </p:sp>
      <p:sp>
        <p:nvSpPr>
          <p:cNvPr id="3" name="vault-rib-1"/>
          <p:cNvSpPr/>
          <p:nvPr/>
        </p:nvSpPr>
        <p:spPr>
          <a:xfrm>
            <a:off x="4315968" y="2240280"/>
            <a:ext cx="3566160" cy="155448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21000"/>
              </a:srgbClr>
            </a:solidFill>
            <a:prstDash val="solid"/>
          </a:ln>
        </p:spPr>
      </p:sp>
      <p:sp>
        <p:nvSpPr>
          <p:cNvPr id="4" name="vault-rib-2"/>
          <p:cNvSpPr/>
          <p:nvPr/>
        </p:nvSpPr>
        <p:spPr>
          <a:xfrm>
            <a:off x="3630168" y="1920240"/>
            <a:ext cx="4937760" cy="219456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20000"/>
              </a:srgbClr>
            </a:solidFill>
            <a:prstDash val="solid"/>
          </a:ln>
        </p:spPr>
      </p:sp>
      <p:sp>
        <p:nvSpPr>
          <p:cNvPr id="5" name="vault-rib-3"/>
          <p:cNvSpPr/>
          <p:nvPr/>
        </p:nvSpPr>
        <p:spPr>
          <a:xfrm>
            <a:off x="2944368" y="1600200"/>
            <a:ext cx="6309360" cy="283464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9000"/>
              </a:srgbClr>
            </a:solidFill>
            <a:prstDash val="solid"/>
          </a:ln>
        </p:spPr>
      </p:sp>
      <p:sp>
        <p:nvSpPr>
          <p:cNvPr id="6" name="vault-rib-4"/>
          <p:cNvSpPr/>
          <p:nvPr/>
        </p:nvSpPr>
        <p:spPr>
          <a:xfrm>
            <a:off x="2258568" y="1280160"/>
            <a:ext cx="7680960" cy="347472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8000"/>
              </a:srgbClr>
            </a:solidFill>
            <a:prstDash val="solid"/>
          </a:ln>
        </p:spPr>
      </p:sp>
      <p:sp>
        <p:nvSpPr>
          <p:cNvPr id="7" name="vault-rib-5"/>
          <p:cNvSpPr/>
          <p:nvPr/>
        </p:nvSpPr>
        <p:spPr>
          <a:xfrm>
            <a:off x="1572768" y="960120"/>
            <a:ext cx="9052560" cy="411480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7000"/>
              </a:srgbClr>
            </a:solidFill>
            <a:prstDash val="solid"/>
          </a:ln>
        </p:spPr>
      </p:sp>
      <p:sp>
        <p:nvSpPr>
          <p:cNvPr id="8" name="vault-rib-6"/>
          <p:cNvSpPr/>
          <p:nvPr/>
        </p:nvSpPr>
        <p:spPr>
          <a:xfrm>
            <a:off x="886968" y="640080"/>
            <a:ext cx="10424160" cy="475488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6000"/>
              </a:srgbClr>
            </a:solidFill>
            <a:prstDash val="solid"/>
          </a:ln>
        </p:spPr>
      </p:sp>
      <p:sp>
        <p:nvSpPr>
          <p:cNvPr id="9" name="vault-rib-7"/>
          <p:cNvSpPr/>
          <p:nvPr/>
        </p:nvSpPr>
        <p:spPr>
          <a:xfrm>
            <a:off x="201168" y="320040"/>
            <a:ext cx="11795760" cy="539496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5000"/>
              </a:srgbClr>
            </a:solidFill>
            <a:prstDash val="solid"/>
          </a:ln>
        </p:spPr>
      </p:sp>
      <p:sp>
        <p:nvSpPr>
          <p:cNvPr id="10" name="vault-rib-8"/>
          <p:cNvSpPr/>
          <p:nvPr/>
        </p:nvSpPr>
        <p:spPr>
          <a:xfrm>
            <a:off x="-484632" y="0"/>
            <a:ext cx="13167360" cy="603504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4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175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8FD3FF"/>
                </a:solidFill>
              </a:rPr>
              <a:t>Q-HACK INDIA 2026 · QUANTUM SECURITY &amp; CRYPTOGRAPHY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AF4FF"/>
                </a:solidFill>
              </a:rPr>
              <a:t>GhostQPU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26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AF4FF"/>
                </a:solidFill>
              </a:rPr>
              <a:t>Did your job ever </a:t>
            </a:r>
            <a:pPr algn="ctr" indent="0" marL="0">
              <a:buNone/>
            </a:pPr>
            <a:r>
              <a:rPr lang="en-US" sz="2600" b="1" dirty="0">
                <a:solidFill>
                  <a:srgbClr val="8FD3FF"/>
                </a:solidFill>
              </a:rPr>
              <a:t>touch</a:t>
            </a:r>
            <a:pPr algn="ctr" indent="0" marL="0">
              <a:buNone/>
            </a:pPr>
            <a:r>
              <a:rPr lang="en-US" sz="2600" dirty="0">
                <a:solidFill>
                  <a:srgbClr val="EAF4FF"/>
                </a:solidFill>
              </a:rPr>
              <a:t> a quantum computer?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Team lwyrup: Neelagiri Karthikeya (lead) · L Mohit Jain · Tanvi Jain · Aditi Gorti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D3FF"/>
                </a:solidFill>
              </a:rPr>
              <a:t>Live site: jacklachan.github.io/GhostQPU   ·   Code: github.com/Karthikeya47/GhostQPU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PROBLEM SIGNIFICANCE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Quantum time is resold, and nobody checks it ran</a:t>
            </a:r>
            <a:endParaRPr lang="en-US" sz="3600" dirty="0"/>
          </a:p>
        </p:txBody>
      </p:sp>
      <p:sp>
        <p:nvSpPr>
          <p:cNvPr id="4" name="step-1"/>
          <p:cNvSpPr/>
          <p:nvPr/>
        </p:nvSpPr>
        <p:spPr>
          <a:xfrm>
            <a:off x="548640" y="182880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5" name="step-dot-1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8FD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B17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AF4FF"/>
                </a:solidFill>
              </a:rPr>
              <a:t>You pay a reseller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for QPU seconds on an IBM quantum computer, and get back a table of 0s and 1s.</a:t>
            </a:r>
            <a:endParaRPr lang="en-US" sz="1500" dirty="0"/>
          </a:p>
        </p:txBody>
      </p:sp>
      <p:sp>
        <p:nvSpPr>
          <p:cNvPr id="9" name="step-2"/>
          <p:cNvSpPr/>
          <p:nvPr/>
        </p:nvSpPr>
        <p:spPr>
          <a:xfrm>
            <a:off x="4297680" y="182880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0" name="step-dot-2"/>
          <p:cNvSpPr/>
          <p:nvPr/>
        </p:nvSpPr>
        <p:spPr>
          <a:xfrm>
            <a:off x="4617720" y="2148840"/>
            <a:ext cx="640080" cy="64008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B17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017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AF4FF"/>
                </a:solidFill>
              </a:rPr>
              <a:t>They never use the QPU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IBM publishes calibration data for every machine. Free Qiskit Aer turns it into a believable simulator.</a:t>
            </a:r>
            <a:endParaRPr lang="en-US" sz="1500" dirty="0"/>
          </a:p>
        </p:txBody>
      </p:sp>
      <p:sp>
        <p:nvSpPr>
          <p:cNvPr id="14" name="step-3"/>
          <p:cNvSpPr/>
          <p:nvPr/>
        </p:nvSpPr>
        <p:spPr>
          <a:xfrm>
            <a:off x="8046720" y="182880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5" name="step-dot-3"/>
          <p:cNvSpPr/>
          <p:nvPr/>
        </p:nvSpPr>
        <p:spPr>
          <a:xfrm>
            <a:off x="8366760" y="2148840"/>
            <a:ext cx="640080" cy="640080"/>
          </a:xfrm>
          <a:prstGeom prst="ellipse">
            <a:avLst/>
          </a:prstGeom>
          <a:solidFill>
            <a:srgbClr val="8FD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B17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017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AF4FF"/>
                </a:solidFill>
              </a:rPr>
              <a:t>You get billed anyway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The fake results have the right shape and roughly the right error rates. You cannot tell.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8FD3FF"/>
                </a:solidFill>
              </a:rPr>
              <a:t>We built that Forger ourselves, using the exact calibration that was live when each real job ran: the strongest fair attacker.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Hide Canaries in every job</a:t>
            </a:r>
            <a:endParaRPr lang="en-US" sz="3600" dirty="0"/>
          </a:p>
        </p:txBody>
      </p:sp>
      <p:sp>
        <p:nvSpPr>
          <p:cNvPr id="4" name="circuit-1"/>
          <p:cNvSpPr/>
          <p:nvPr/>
        </p:nvSpPr>
        <p:spPr>
          <a:xfrm>
            <a:off x="548640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5" name="circuit-2"/>
          <p:cNvSpPr/>
          <p:nvPr/>
        </p:nvSpPr>
        <p:spPr>
          <a:xfrm>
            <a:off x="1170432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D85A30"/>
          </a:solidFill>
          <a:ln/>
        </p:spPr>
      </p:sp>
      <p:sp>
        <p:nvSpPr>
          <p:cNvPr id="6" name="circuit-3"/>
          <p:cNvSpPr/>
          <p:nvPr/>
        </p:nvSpPr>
        <p:spPr>
          <a:xfrm>
            <a:off x="1792224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7" name="circuit-4"/>
          <p:cNvSpPr/>
          <p:nvPr/>
        </p:nvSpPr>
        <p:spPr>
          <a:xfrm>
            <a:off x="2414016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8" name="circuit-5"/>
          <p:cNvSpPr/>
          <p:nvPr/>
        </p:nvSpPr>
        <p:spPr>
          <a:xfrm>
            <a:off x="3035808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9" name="circuit-6"/>
          <p:cNvSpPr/>
          <p:nvPr/>
        </p:nvSpPr>
        <p:spPr>
          <a:xfrm>
            <a:off x="3657600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10" name="circuit-7"/>
          <p:cNvSpPr/>
          <p:nvPr/>
        </p:nvSpPr>
        <p:spPr>
          <a:xfrm>
            <a:off x="4279392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11" name="circuit-8"/>
          <p:cNvSpPr/>
          <p:nvPr/>
        </p:nvSpPr>
        <p:spPr>
          <a:xfrm>
            <a:off x="4901184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CFD8"/>
          </a:solidFill>
          <a:ln/>
        </p:spPr>
      </p:sp>
      <p:sp>
        <p:nvSpPr>
          <p:cNvPr id="12" name="circuit-9"/>
          <p:cNvSpPr/>
          <p:nvPr/>
        </p:nvSpPr>
        <p:spPr>
          <a:xfrm>
            <a:off x="5522976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D85A30"/>
          </a:solidFill>
          <a:ln/>
        </p:spPr>
      </p:sp>
      <p:sp>
        <p:nvSpPr>
          <p:cNvPr id="13" name="circuit-10"/>
          <p:cNvSpPr/>
          <p:nvPr/>
        </p:nvSpPr>
        <p:spPr>
          <a:xfrm>
            <a:off x="548640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14" name="circuit-11"/>
          <p:cNvSpPr/>
          <p:nvPr/>
        </p:nvSpPr>
        <p:spPr>
          <a:xfrm>
            <a:off x="1170432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15" name="circuit-12"/>
          <p:cNvSpPr/>
          <p:nvPr/>
        </p:nvSpPr>
        <p:spPr>
          <a:xfrm>
            <a:off x="1792224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D85A30"/>
          </a:solidFill>
          <a:ln/>
        </p:spPr>
      </p:sp>
      <p:sp>
        <p:nvSpPr>
          <p:cNvPr id="16" name="circuit-13"/>
          <p:cNvSpPr/>
          <p:nvPr/>
        </p:nvSpPr>
        <p:spPr>
          <a:xfrm>
            <a:off x="2414016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17" name="circuit-14"/>
          <p:cNvSpPr/>
          <p:nvPr/>
        </p:nvSpPr>
        <p:spPr>
          <a:xfrm>
            <a:off x="3035808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18" name="circuit-15"/>
          <p:cNvSpPr/>
          <p:nvPr/>
        </p:nvSpPr>
        <p:spPr>
          <a:xfrm>
            <a:off x="3657600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19" name="circuit-16"/>
          <p:cNvSpPr/>
          <p:nvPr/>
        </p:nvSpPr>
        <p:spPr>
          <a:xfrm>
            <a:off x="4279392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D85A30"/>
          </a:solidFill>
          <a:ln/>
        </p:spPr>
      </p:sp>
      <p:sp>
        <p:nvSpPr>
          <p:cNvPr id="20" name="circuit-17"/>
          <p:cNvSpPr/>
          <p:nvPr/>
        </p:nvSpPr>
        <p:spPr>
          <a:xfrm>
            <a:off x="4901184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21" name="circuit-18"/>
          <p:cNvSpPr/>
          <p:nvPr/>
        </p:nvSpPr>
        <p:spPr>
          <a:xfrm>
            <a:off x="5522976" y="24505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22" name="circuit-19"/>
          <p:cNvSpPr/>
          <p:nvPr/>
        </p:nvSpPr>
        <p:spPr>
          <a:xfrm>
            <a:off x="548640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23" name="circuit-20"/>
          <p:cNvSpPr/>
          <p:nvPr/>
        </p:nvSpPr>
        <p:spPr>
          <a:xfrm>
            <a:off x="1170432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24" name="circuit-21"/>
          <p:cNvSpPr/>
          <p:nvPr/>
        </p:nvSpPr>
        <p:spPr>
          <a:xfrm>
            <a:off x="1792224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25" name="circuit-22"/>
          <p:cNvSpPr/>
          <p:nvPr/>
        </p:nvSpPr>
        <p:spPr>
          <a:xfrm>
            <a:off x="2414016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CFD8"/>
          </a:solidFill>
          <a:ln/>
        </p:spPr>
      </p:sp>
      <p:sp>
        <p:nvSpPr>
          <p:cNvPr id="26" name="circuit-23"/>
          <p:cNvSpPr/>
          <p:nvPr/>
        </p:nvSpPr>
        <p:spPr>
          <a:xfrm>
            <a:off x="3035808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27" name="circuit-24"/>
          <p:cNvSpPr/>
          <p:nvPr/>
        </p:nvSpPr>
        <p:spPr>
          <a:xfrm>
            <a:off x="3657600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CFD8"/>
          </a:solidFill>
          <a:ln/>
        </p:spPr>
      </p:sp>
      <p:sp>
        <p:nvSpPr>
          <p:cNvPr id="28" name="circuit-25"/>
          <p:cNvSpPr/>
          <p:nvPr/>
        </p:nvSpPr>
        <p:spPr>
          <a:xfrm>
            <a:off x="4279392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29" name="circuit-26"/>
          <p:cNvSpPr/>
          <p:nvPr/>
        </p:nvSpPr>
        <p:spPr>
          <a:xfrm>
            <a:off x="4901184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30" name="circuit-27"/>
          <p:cNvSpPr/>
          <p:nvPr/>
        </p:nvSpPr>
        <p:spPr>
          <a:xfrm>
            <a:off x="5522976" y="30723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CFD8"/>
          </a:solidFill>
          <a:ln/>
        </p:spPr>
      </p:sp>
      <p:sp>
        <p:nvSpPr>
          <p:cNvPr id="31" name="circuit-28"/>
          <p:cNvSpPr/>
          <p:nvPr/>
        </p:nvSpPr>
        <p:spPr>
          <a:xfrm>
            <a:off x="548640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32" name="circuit-29"/>
          <p:cNvSpPr/>
          <p:nvPr/>
        </p:nvSpPr>
        <p:spPr>
          <a:xfrm>
            <a:off x="1170432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33" name="circuit-30"/>
          <p:cNvSpPr/>
          <p:nvPr/>
        </p:nvSpPr>
        <p:spPr>
          <a:xfrm>
            <a:off x="1792224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34" name="circuit-31"/>
          <p:cNvSpPr/>
          <p:nvPr/>
        </p:nvSpPr>
        <p:spPr>
          <a:xfrm>
            <a:off x="2414016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35" name="circuit-32"/>
          <p:cNvSpPr/>
          <p:nvPr/>
        </p:nvSpPr>
        <p:spPr>
          <a:xfrm>
            <a:off x="3035808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36" name="circuit-33"/>
          <p:cNvSpPr/>
          <p:nvPr/>
        </p:nvSpPr>
        <p:spPr>
          <a:xfrm>
            <a:off x="3657600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/>
        </p:spPr>
      </p:sp>
      <p:sp>
        <p:nvSpPr>
          <p:cNvPr id="37" name="circuit-34"/>
          <p:cNvSpPr/>
          <p:nvPr/>
        </p:nvSpPr>
        <p:spPr>
          <a:xfrm>
            <a:off x="4279392" y="369417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7F77DD"/>
          </a:solidFill>
          <a:ln/>
        </p:spPr>
      </p:sp>
      <p:sp>
        <p:nvSpPr>
          <p:cNvPr id="38" name="legend-0"/>
          <p:cNvSpPr/>
          <p:nvPr/>
        </p:nvSpPr>
        <p:spPr>
          <a:xfrm>
            <a:off x="548640" y="452628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F77D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45079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14 coherent Canaries</a:t>
            </a:r>
            <a:endParaRPr lang="en-US" sz="1400" dirty="0"/>
          </a:p>
        </p:txBody>
      </p:sp>
      <p:sp>
        <p:nvSpPr>
          <p:cNvPr id="40" name="legend-1"/>
          <p:cNvSpPr/>
          <p:nvPr/>
        </p:nvSpPr>
        <p:spPr>
          <a:xfrm>
            <a:off x="548640" y="4910328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D9E7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4892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12 spectator Canaries</a:t>
            </a:r>
            <a:endParaRPr lang="en-US" sz="1400" dirty="0"/>
          </a:p>
        </p:txBody>
      </p:sp>
      <p:sp>
        <p:nvSpPr>
          <p:cNvPr id="42" name="legend-2"/>
          <p:cNvSpPr/>
          <p:nvPr/>
        </p:nvSpPr>
        <p:spPr>
          <a:xfrm>
            <a:off x="548640" y="52943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D85A3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4400" y="52760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4 readout Canaries</a:t>
            </a:r>
            <a:endParaRPr lang="en-US" sz="1400" dirty="0"/>
          </a:p>
        </p:txBody>
      </p:sp>
      <p:sp>
        <p:nvSpPr>
          <p:cNvPr id="44" name="legend-3"/>
          <p:cNvSpPr/>
          <p:nvPr/>
        </p:nvSpPr>
        <p:spPr>
          <a:xfrm>
            <a:off x="548640" y="567842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CFD8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14400" y="566013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4 customer circuits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182880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4FF"/>
                </a:solidFill>
              </a:rPr>
              <a:t>One job = 34 circuits x 1000 shots, 11 QPU seconds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8AA3C0"/>
                </a:solidFill>
              </a:rPr>
              <a:t>Real job J2 on ibm_marrakesh, in the order IBM received it.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4FF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4FF"/>
                </a:solidFill>
              </a:rPr>
              <a:t>30 Canaries have a known ideal answer and probe physics the published calibration leaves out.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4FF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4FF"/>
                </a:solidFill>
              </a:rPr>
              <a:t>Everything is compiled to native gates and shuffled, so the provider cannot tell which circuits are traps.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QUANTUM RELEVANCE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a calibration-built simulator gets wrong</a:t>
            </a:r>
            <a:endParaRPr lang="en-US" sz="3600" dirty="0"/>
          </a:p>
        </p:txBody>
      </p:sp>
      <p:sp>
        <p:nvSpPr>
          <p:cNvPr id="4" name="effect-0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FD3FF"/>
                </a:solidFill>
              </a:rPr>
              <a:t>Coherent over-rotation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Each X gate overshoots by a fixed tiny angle. Over 128 gates it adds up. The Forger only knows random error, which barely grows.</a:t>
            </a:r>
            <a:endParaRPr lang="en-US" sz="1500" dirty="0"/>
          </a:p>
        </p:txBody>
      </p:sp>
      <p:sp>
        <p:nvSpPr>
          <p:cNvPr id="7" name="effect-1"/>
          <p:cNvSpPr/>
          <p:nvPr/>
        </p:nvSpPr>
        <p:spPr>
          <a:xfrm>
            <a:off x="617220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FD3FF"/>
                </a:solidFill>
              </a:rPr>
              <a:t>Neighbor crosstalk (ZZ)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06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An idle qubit shifts when its coupled neighbor flips. Gate-local noise models say the shift is zero.</a:t>
            </a:r>
            <a:endParaRPr lang="en-US" sz="1500" dirty="0"/>
          </a:p>
        </p:txBody>
      </p:sp>
      <p:sp>
        <p:nvSpPr>
          <p:cNvPr id="10" name="effect-2"/>
          <p:cNvSpPr/>
          <p:nvPr/>
        </p:nvSpPr>
        <p:spPr>
          <a:xfrm>
            <a:off x="54864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FD3FF"/>
                </a:solidFill>
              </a:rPr>
              <a:t>Readout in context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Readout error depends on what the neighbor holds. The Forger uses one fixed number per qubit.</a:t>
            </a:r>
            <a:endParaRPr lang="en-US" sz="1500" dirty="0"/>
          </a:p>
        </p:txBody>
      </p:sp>
      <p:sp>
        <p:nvSpPr>
          <p:cNvPr id="13" name="effect-3"/>
          <p:cNvSpPr/>
          <p:nvPr/>
        </p:nvSpPr>
        <p:spPr>
          <a:xfrm>
            <a:off x="617220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FD3FF"/>
                </a:solidFill>
              </a:rPr>
              <a:t>Drift during the job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Real hardware wanders shot to shot. Simulated shots are perfectly independent.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12 features from these effects, computed for each eighth of the job's shots, form the Signature.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EVIDENCE ON REAL HARDWARE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128 X gates: 91% wrong on hardware, 2% in the Forger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955280" y="18288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5AA0F2"/>
                </a:solidFill>
              </a:rPr>
              <a:t>91%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real qubit wrong after 128 gates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</a:rPr>
              <a:t>2%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the Forger's prediction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6634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8FD3FF"/>
                </a:solidFill>
              </a:rPr>
              <a:t>3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5440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IBM machines, each caught by a different effect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TECHNICAL IMPLEMENTATION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Both sides built, end to end, on IBM hardware</a:t>
            </a:r>
            <a:endParaRPr lang="en-US" sz="3600" dirty="0"/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FD3FF"/>
                </a:solidFill>
              </a:rPr>
              <a:t>Batch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4FF"/>
                </a:solidFill>
              </a:rPr>
              <a:t>30 Canaries + 4 customer circuits</a:t>
            </a:r>
            <a:endParaRPr lang="en-US" sz="1400" dirty="0"/>
          </a:p>
        </p:txBody>
      </p:sp>
      <p:sp>
        <p:nvSpPr>
          <p:cNvPr id="7" name="flow-arrow-0"/>
          <p:cNvSpPr/>
          <p:nvPr/>
        </p:nvSpPr>
        <p:spPr>
          <a:xfrm rot="5400000">
            <a:off x="3218688" y="2578608"/>
            <a:ext cx="146304" cy="228600"/>
          </a:xfrm>
          <a:prstGeom prst="rtTriangle">
            <a:avLst/>
          </a:prstGeom>
          <a:solidFill>
            <a:srgbClr val="8FD3FF"/>
          </a:solidFill>
          <a:ln w="12700">
            <a:solidFill>
              <a:srgbClr val="8FD3FF"/>
            </a:solidFill>
            <a:prstDash val="solid"/>
          </a:ln>
        </p:spPr>
      </p:sp>
      <p:sp>
        <p:nvSpPr>
          <p:cNvPr id="8" name="flow-1"/>
          <p:cNvSpPr/>
          <p:nvPr/>
        </p:nvSpPr>
        <p:spPr>
          <a:xfrm>
            <a:off x="3429000" y="182880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FD3FF"/>
                </a:solidFill>
              </a:rPr>
              <a:t>IBM QPU or Forger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4FF"/>
                </a:solidFill>
              </a:rPr>
              <a:t>Sampler, no error suppression · Aer + live calibration</a:t>
            </a:r>
            <a:endParaRPr lang="en-US" sz="1400" dirty="0"/>
          </a:p>
        </p:txBody>
      </p:sp>
      <p:sp>
        <p:nvSpPr>
          <p:cNvPr id="11" name="flow-arrow-1"/>
          <p:cNvSpPr/>
          <p:nvPr/>
        </p:nvSpPr>
        <p:spPr>
          <a:xfrm rot="5400000">
            <a:off x="6099048" y="2578608"/>
            <a:ext cx="146304" cy="228600"/>
          </a:xfrm>
          <a:prstGeom prst="rtTriangle">
            <a:avLst/>
          </a:prstGeom>
          <a:solidFill>
            <a:srgbClr val="8FD3FF"/>
          </a:solidFill>
          <a:ln w="12700">
            <a:solidFill>
              <a:srgbClr val="8FD3FF"/>
            </a:solidFill>
            <a:prstDash val="solid"/>
          </a:ln>
        </p:spPr>
      </p:sp>
      <p:sp>
        <p:nvSpPr>
          <p:cNvPr id="12" name="flow-2"/>
          <p:cNvSpPr/>
          <p:nvPr/>
        </p:nvSpPr>
        <p:spPr>
          <a:xfrm>
            <a:off x="6309360" y="182880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FD3FF"/>
                </a:solidFill>
              </a:rPr>
              <a:t>Signature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4FF"/>
                </a:solidFill>
              </a:rPr>
              <a:t>12 features x 8 time chunks</a:t>
            </a:r>
            <a:endParaRPr lang="en-US" sz="1400" dirty="0"/>
          </a:p>
        </p:txBody>
      </p:sp>
      <p:sp>
        <p:nvSpPr>
          <p:cNvPr id="15" name="flow-arrow-2"/>
          <p:cNvSpPr/>
          <p:nvPr/>
        </p:nvSpPr>
        <p:spPr>
          <a:xfrm rot="5400000">
            <a:off x="8979408" y="2578608"/>
            <a:ext cx="146304" cy="228600"/>
          </a:xfrm>
          <a:prstGeom prst="rtTriangle">
            <a:avLst/>
          </a:prstGeom>
          <a:solidFill>
            <a:srgbClr val="8FD3FF"/>
          </a:solidFill>
          <a:ln w="12700">
            <a:solidFill>
              <a:srgbClr val="8FD3FF"/>
            </a:solidFill>
            <a:prstDash val="solid"/>
          </a:ln>
        </p:spPr>
      </p:sp>
      <p:sp>
        <p:nvSpPr>
          <p:cNvPr id="16" name="flow-3"/>
          <p:cNvSpPr/>
          <p:nvPr/>
        </p:nvSpPr>
        <p:spPr>
          <a:xfrm>
            <a:off x="9189720" y="182880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1832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FD3FF"/>
                </a:solidFill>
              </a:rPr>
              <a:t>Detector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4FF"/>
                </a:solidFill>
              </a:rPr>
              <a:t>logistic regression → Genuine / Forged / Inconclusive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97764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3FF"/>
                </a:solidFill>
              </a:rPr>
              <a:t>Frozen Detector: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AF4FF"/>
                </a:solidFill>
              </a:rPr>
              <a:t>trained on two jobs from 10 October, then never retrained. Every later job is scored blind.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3FF"/>
                </a:solidFill>
              </a:rPr>
              <a:t>Null test: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AF4FF"/>
                </a:solidFill>
              </a:rPr>
              <a:t>simulator on both sides scores AUC 0.52, chance level, so it detects physics, not formatting.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3FF"/>
                </a:solidFill>
              </a:rPr>
              <a:t>Reproducible: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AF4FF"/>
                </a:solidFill>
              </a:rPr>
              <a:t>every run, Twin and calibration snapshot committed; seeded Forger; 36 automated tests.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3FF"/>
                </a:solidFill>
              </a:rPr>
              <a:t>Customer-ready: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AF4FF"/>
                </a:solidFill>
              </a:rPr>
              <a:t>python -m ghostqpu verify &lt;job&gt; prints the Verdict in one command.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40 of 40 called correctly, scored blind</a:t>
            </a:r>
            <a:endParaRPr lang="en-US" sz="3600" dirty="0"/>
          </a:p>
        </p:txBody>
      </p:sp>
      <p:sp>
        <p:nvSpPr>
          <p:cNvPr id="4" name="stat-0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8FD3FF"/>
                </a:solidFill>
              </a:rPr>
              <a:t>40/40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AF4FF"/>
                </a:solidFill>
              </a:rPr>
              <a:t>frozen Detector on later jobs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20 real + 20 forged, 17 cycles, 4 days</a:t>
            </a:r>
            <a:endParaRPr lang="en-US" sz="1300" dirty="0"/>
          </a:p>
        </p:txBody>
      </p:sp>
      <p:sp>
        <p:nvSpPr>
          <p:cNvPr id="8" name="stat-1"/>
          <p:cNvSpPr/>
          <p:nvPr/>
        </p:nvSpPr>
        <p:spPr>
          <a:xfrm>
            <a:off x="3429000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8FD3FF"/>
                </a:solidFill>
              </a:rPr>
              <a:t>44/44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AF4FF"/>
                </a:solidFill>
              </a:rPr>
              <a:t>each calibration cycle held out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AUC 1.00, 18 cycles</a:t>
            </a:r>
            <a:endParaRPr lang="en-US" sz="1300" dirty="0"/>
          </a:p>
        </p:txBody>
      </p:sp>
      <p:sp>
        <p:nvSpPr>
          <p:cNvPr id="12" name="stat-2"/>
          <p:cNvSpPr/>
          <p:nvPr/>
        </p:nvSpPr>
        <p:spPr>
          <a:xfrm>
            <a:off x="6309360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8FD3FF"/>
                </a:solidFill>
              </a:rPr>
              <a:t>40/40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AF4FF"/>
                </a:solidFill>
              </a:rPr>
              <a:t>trained only on earlier days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forward in time, AUC 1.00</a:t>
            </a:r>
            <a:endParaRPr lang="en-US" sz="1300" dirty="0"/>
          </a:p>
        </p:txBody>
      </p:sp>
      <p:sp>
        <p:nvSpPr>
          <p:cNvPr id="16" name="stat-3"/>
          <p:cNvSpPr/>
          <p:nvPr/>
        </p:nvSpPr>
        <p:spPr>
          <a:xfrm>
            <a:off x="9189720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1832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8AA3C0"/>
                </a:solidFill>
              </a:rPr>
              <a:t>0.52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AF4FF"/>
                </a:solidFill>
              </a:rPr>
              <a:t>null test AUC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41832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simulator vs simulator: chance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1737360"/>
                <a:gridCol w="219456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FD3FF"/>
                          </a:solidFill>
                        </a:rPr>
                        <a:t>Machine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FD3FF"/>
                          </a:solidFill>
                        </a:rPr>
                        <a:t>Seen in training?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FD3FF"/>
                          </a:solidFill>
                        </a:rPr>
                        <a:t>Real jobs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FD3FF"/>
                          </a:solidFill>
                        </a:rPr>
                        <a:t>Called Genuine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FD3FF"/>
                          </a:solidFill>
                        </a:rPr>
                        <a:t>Forgeries caught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ibm_marrakesh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10 Oct only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7 / 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7 / 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ibm_fez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never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7 / 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7 / 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ibm_kingston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never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6 / 6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4FF"/>
                          </a:solidFill>
                        </a:rPr>
                        <a:t>6 / 6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B1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ORIGINALITY AND INNOVATION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Canaries a provider cannot spot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949440" y="1737360"/>
            <a:ext cx="4663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D3FF"/>
                </a:solidFill>
              </a:rPr>
              <a:t>Disguised Canaries, tested this morning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A random circuit followed by its exact reverse looks like any customer job, yet ideally returns all zeros. The Forger is too clean on 45 of 48.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8FD3FF"/>
                </a:solidFill>
              </a:rPr>
              <a:t>A new Canary from the two-qubit gate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Repeated CNOTs on marrakesh qubits 107-108 read wrong 73% of the time; the Forger predicts 10%. Detected on 13 of 16 qubit pairs.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8FD3FF"/>
                </a:solidFill>
              </a:rPr>
              <a:t>What is new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AF4FF"/>
                </a:solidFill>
              </a:rPr>
              <a:t>Prior work catches a provider swapping in a different device. We catch a simulator built from the device's own public calibration.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POTENTIAL IMPACT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Verification costs about a second and a half</a:t>
            </a:r>
            <a:endParaRPr lang="en-US" sz="3600" dirty="0"/>
          </a:p>
        </p:txBody>
      </p:sp>
      <p:sp>
        <p:nvSpPr>
          <p:cNvPr id="4" name="impact-0"/>
          <p:cNvSpPr/>
          <p:nvPr/>
        </p:nvSpPr>
        <p:spPr>
          <a:xfrm>
            <a:off x="54864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8FD3FF"/>
                </a:solidFill>
              </a:rPr>
              <a:t>1.5 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AF4FF"/>
                </a:solidFill>
              </a:rPr>
              <a:t>of Canary QPU time still catches all 44 jobs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19 circuits x 250 shots, 85% less than today</a:t>
            </a:r>
            <a:endParaRPr lang="en-US" sz="1300" dirty="0"/>
          </a:p>
        </p:txBody>
      </p:sp>
      <p:sp>
        <p:nvSpPr>
          <p:cNvPr id="8" name="impact-1"/>
          <p:cNvSpPr/>
          <p:nvPr/>
        </p:nvSpPr>
        <p:spPr>
          <a:xfrm>
            <a:off x="429768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57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8FD3FF"/>
                </a:solidFill>
              </a:rPr>
              <a:t>12/12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17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AF4FF"/>
                </a:solidFill>
              </a:rPr>
              <a:t>real 250-shot runs called right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checked on hardware on two days</a:t>
            </a:r>
            <a:endParaRPr lang="en-US" sz="1300" dirty="0"/>
          </a:p>
        </p:txBody>
      </p:sp>
      <p:sp>
        <p:nvSpPr>
          <p:cNvPr id="12" name="impact-2"/>
          <p:cNvSpPr/>
          <p:nvPr/>
        </p:nvSpPr>
        <p:spPr>
          <a:xfrm>
            <a:off x="804672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6760" y="2057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8FD3FF"/>
                </a:solidFill>
              </a:rPr>
              <a:t>1 command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3017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AF4FF"/>
                </a:solidFill>
              </a:rPr>
              <a:t>to verify a job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A3C0"/>
                </a:solidFill>
              </a:rPr>
              <a:t>python -m ghostqpu verify &lt;job&gt;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3FF"/>
                </a:solidFill>
              </a:rPr>
              <a:t>Who it protects: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AF4FF"/>
                </a:solidFill>
              </a:rPr>
              <a:t>anyone buying quantum time through resellers or brokers, and the platforms that want to prove they are honest.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3FF"/>
                </a:solidFill>
              </a:rPr>
              <a:t>What it changes: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AF4FF"/>
                </a:solidFill>
              </a:rPr>
              <a:t>faking a quantum job stops being free; a Forger now needs real QPU access to learn the physics.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HONEST LIMITS AND NEXT STEPS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have not proven yet</a:t>
            </a:r>
            <a:endParaRPr lang="en-US" sz="3600" dirty="0"/>
          </a:p>
        </p:txBody>
      </p:sp>
      <p:sp>
        <p:nvSpPr>
          <p:cNvPr id="4" name="limit-dot-0"/>
          <p:cNvSpPr/>
          <p:nvPr/>
        </p:nvSpPr>
        <p:spPr>
          <a:xfrm>
            <a:off x="548640" y="1920240"/>
            <a:ext cx="502920" cy="50292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25880" y="1828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AF4FF"/>
                </a:solidFill>
              </a:rPr>
              <a:t>Small sample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2860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20 real jobs over 17 cycles. Zero errors still only bounds false alarms below 14% (95%).</a:t>
            </a:r>
            <a:endParaRPr lang="en-US" sz="1400" dirty="0"/>
          </a:p>
        </p:txBody>
      </p:sp>
      <p:sp>
        <p:nvSpPr>
          <p:cNvPr id="7" name="limit-dot-1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3200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AF4FF"/>
                </a:solidFill>
              </a:rPr>
              <a:t>Smarter Forgers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6576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Our stronger Forger fits effects from one real job and fooled the original Detector, but needs real QPU access.</a:t>
            </a:r>
            <a:endParaRPr lang="en-US" sz="1400" dirty="0"/>
          </a:p>
        </p:txBody>
      </p:sp>
      <p:sp>
        <p:nvSpPr>
          <p:cNvPr id="10" name="limit-dot-2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25880" y="45720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AF4FF"/>
                </a:solidFill>
              </a:rPr>
              <a:t>One effect can dominate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50292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A3C0"/>
                </a:solidFill>
              </a:rPr>
              <a:t>Faking the strongest effect often fools the frozen Detector. Next: require evidence from two families.</a:t>
            </a:r>
            <a:endParaRPr lang="en-US" sz="1400" dirty="0"/>
          </a:p>
        </p:txBody>
      </p:sp>
      <p:sp>
        <p:nvSpPr>
          <p:cNvPr id="13" name="next-steps"/>
          <p:cNvSpPr/>
          <p:nvPr/>
        </p:nvSpPr>
        <p:spPr>
          <a:xfrm>
            <a:off x="640080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0B2747"/>
          </a:solidFill>
          <a:ln w="9525">
            <a:solidFill>
              <a:srgbClr val="8FD3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21031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rgbClr val="8FD3FF"/>
                </a:solidFill>
              </a:rPr>
              <a:t>Next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4FF"/>
                </a:solidFill>
              </a:rPr>
              <a:t>Disguised Canaries as the default family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4FF"/>
                </a:solidFill>
              </a:rPr>
              <a:t>CNOT Canary as its own family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4FF"/>
                </a:solidFill>
              </a:rPr>
              <a:t>Weeks of daily jobs to tighten the bound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4FF"/>
                </a:solidFill>
              </a:rPr>
              <a:t>Secret, per-job Canary parameters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4FF"/>
                </a:solidFill>
              </a:rPr>
              <a:t>Detector that needs two families to agree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ault-rib-end-0"/>
          <p:cNvSpPr/>
          <p:nvPr/>
        </p:nvSpPr>
        <p:spPr>
          <a:xfrm>
            <a:off x="5001768" y="2286000"/>
            <a:ext cx="2194560" cy="91440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22000"/>
              </a:srgbClr>
            </a:solidFill>
            <a:prstDash val="solid"/>
          </a:ln>
        </p:spPr>
      </p:sp>
      <p:sp>
        <p:nvSpPr>
          <p:cNvPr id="3" name="vault-rib-end-1"/>
          <p:cNvSpPr/>
          <p:nvPr/>
        </p:nvSpPr>
        <p:spPr>
          <a:xfrm>
            <a:off x="4315968" y="1965960"/>
            <a:ext cx="3566160" cy="155448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21000"/>
              </a:srgbClr>
            </a:solidFill>
            <a:prstDash val="solid"/>
          </a:ln>
        </p:spPr>
      </p:sp>
      <p:sp>
        <p:nvSpPr>
          <p:cNvPr id="4" name="vault-rib-end-2"/>
          <p:cNvSpPr/>
          <p:nvPr/>
        </p:nvSpPr>
        <p:spPr>
          <a:xfrm>
            <a:off x="3630168" y="1645920"/>
            <a:ext cx="4937760" cy="219456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20000"/>
              </a:srgbClr>
            </a:solidFill>
            <a:prstDash val="solid"/>
          </a:ln>
        </p:spPr>
      </p:sp>
      <p:sp>
        <p:nvSpPr>
          <p:cNvPr id="5" name="vault-rib-end-3"/>
          <p:cNvSpPr/>
          <p:nvPr/>
        </p:nvSpPr>
        <p:spPr>
          <a:xfrm>
            <a:off x="2944368" y="1325880"/>
            <a:ext cx="6309360" cy="283464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9000"/>
              </a:srgbClr>
            </a:solidFill>
            <a:prstDash val="solid"/>
          </a:ln>
        </p:spPr>
      </p:sp>
      <p:sp>
        <p:nvSpPr>
          <p:cNvPr id="6" name="vault-rib-end-4"/>
          <p:cNvSpPr/>
          <p:nvPr/>
        </p:nvSpPr>
        <p:spPr>
          <a:xfrm>
            <a:off x="2258568" y="1005840"/>
            <a:ext cx="7680960" cy="347472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8000"/>
              </a:srgbClr>
            </a:solidFill>
            <a:prstDash val="solid"/>
          </a:ln>
        </p:spPr>
      </p:sp>
      <p:sp>
        <p:nvSpPr>
          <p:cNvPr id="7" name="vault-rib-end-5"/>
          <p:cNvSpPr/>
          <p:nvPr/>
        </p:nvSpPr>
        <p:spPr>
          <a:xfrm>
            <a:off x="1572768" y="685800"/>
            <a:ext cx="9052560" cy="411480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7000"/>
              </a:srgbClr>
            </a:solidFill>
            <a:prstDash val="solid"/>
          </a:ln>
        </p:spPr>
      </p:sp>
      <p:sp>
        <p:nvSpPr>
          <p:cNvPr id="8" name="vault-rib-end-6"/>
          <p:cNvSpPr/>
          <p:nvPr/>
        </p:nvSpPr>
        <p:spPr>
          <a:xfrm>
            <a:off x="886968" y="365760"/>
            <a:ext cx="10424160" cy="475488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6000"/>
              </a:srgbClr>
            </a:solidFill>
            <a:prstDash val="solid"/>
          </a:ln>
        </p:spPr>
      </p:sp>
      <p:sp>
        <p:nvSpPr>
          <p:cNvPr id="9" name="vault-rib-end-7"/>
          <p:cNvSpPr/>
          <p:nvPr/>
        </p:nvSpPr>
        <p:spPr>
          <a:xfrm>
            <a:off x="201168" y="45720"/>
            <a:ext cx="11795760" cy="539496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5000"/>
              </a:srgbClr>
            </a:solidFill>
            <a:prstDash val="solid"/>
          </a:ln>
        </p:spPr>
      </p:sp>
      <p:sp>
        <p:nvSpPr>
          <p:cNvPr id="10" name="vault-rib-end-8"/>
          <p:cNvSpPr/>
          <p:nvPr/>
        </p:nvSpPr>
        <p:spPr>
          <a:xfrm>
            <a:off x="-484632" y="-274320"/>
            <a:ext cx="13167360" cy="603504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8FD3FF">
                <a:alpha val="14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4FF"/>
                </a:solidFill>
              </a:rPr>
              <a:t>Try to beat the Detector yourself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FD3FF"/>
                </a:solidFill>
              </a:rPr>
              <a:t>jacklachan.github.io/GhostQPU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343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A3C0"/>
                </a:solidFill>
              </a:rPr>
              <a:t>github.com/Karthikeya47/GhostQPU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A3C0"/>
                </a:solidFill>
              </a:rPr>
              <a:t>Team lwyrup: Neelagiri Karthikeya (lead) · L Mohit Jain · Tanvi Jain · Aditi Gorti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hostQPU Vault">
  <a:themeElements>
    <a:clrScheme name="GhostQPU Vault">
      <a:dk1>
        <a:srgbClr val="030B17"/>
      </a:dk1>
      <a:lt1>
        <a:srgbClr val="FFFFFF"/>
      </a:lt1>
      <a:dk2>
        <a:srgbClr val="0B2747"/>
      </a:dk2>
      <a:lt2>
        <a:srgbClr val="EAF4FF"/>
      </a:lt2>
      <a:accent1>
        <a:srgbClr val="8FD3FF"/>
      </a:accent1>
      <a:accent2>
        <a:srgbClr val="EB6834"/>
      </a:accent2>
      <a:accent3>
        <a:srgbClr val="2A78D6"/>
      </a:accent3>
      <a:accent4>
        <a:srgbClr val="3CC47C"/>
      </a:accent4>
      <a:accent5>
        <a:srgbClr val="B48CF0"/>
      </a:accent5>
      <a:accent6>
        <a:srgbClr val="5EC8C0"/>
      </a:accent6>
      <a:hlink>
        <a:srgbClr val="8FD3FF"/>
      </a:hlink>
      <a:folHlink>
        <a:srgbClr val="B48CF0"/>
      </a:folHlink>
    </a:clrScheme>
    <a:fontScheme name="GhostQPU Vaul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GhostQPU</dc:title>
  <dc:subject>PptxGenJS Presentation</dc:subject>
  <dc:creator>Team lwyrup</dc:creator>
  <cp:lastModifiedBy>Team lwyrup</cp:lastModifiedBy>
  <cp:revision>1</cp:revision>
  <dcterms:created xsi:type="dcterms:W3CDTF">2026-10-31T04:32:01Z</dcterms:created>
  <dcterms:modified xsi:type="dcterms:W3CDTF">2026-10-31T04:32:01Z</dcterms:modified>
</cp:coreProperties>
</file>