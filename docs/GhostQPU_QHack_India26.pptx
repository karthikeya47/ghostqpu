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BM Plex Sans" panose="020B0503050203000203" pitchFamily="3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619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397061" y="2730987"/>
            <a:ext cx="5634028" cy="6185198"/>
            <a:chOff x="0" y="0"/>
            <a:chExt cx="15229294" cy="167191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29332" cy="16719131"/>
            </a:xfrm>
            <a:custGeom>
              <a:avLst/>
              <a:gdLst/>
              <a:ahLst/>
              <a:cxnLst/>
              <a:rect l="l" t="t" r="r" b="b"/>
              <a:pathLst>
                <a:path w="15229332" h="16719131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t="-67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554011" y="1808824"/>
            <a:ext cx="5931138" cy="1977046"/>
          </a:xfrm>
          <a:custGeom>
            <a:avLst/>
            <a:gdLst/>
            <a:ahLst/>
            <a:cxnLst/>
            <a:rect l="l" t="t" r="r" b="b"/>
            <a:pathLst>
              <a:path w="5931138" h="1977046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91128" y="4301489"/>
            <a:ext cx="3086100" cy="613411"/>
            <a:chOff x="0" y="0"/>
            <a:chExt cx="812800" cy="1615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61557"/>
            </a:xfrm>
            <a:custGeom>
              <a:avLst/>
              <a:gdLst/>
              <a:ahLst/>
              <a:cxnLst/>
              <a:rect l="l" t="t" r="r" b="b"/>
              <a:pathLst>
                <a:path w="812800" h="161557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1128" y="5253037"/>
            <a:ext cx="4142956" cy="613411"/>
            <a:chOff x="0" y="0"/>
            <a:chExt cx="1091149" cy="1615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1149" cy="161557"/>
            </a:xfrm>
            <a:custGeom>
              <a:avLst/>
              <a:gdLst/>
              <a:ahLst/>
              <a:cxnLst/>
              <a:rect l="l" t="t" r="r" b="b"/>
              <a:pathLst>
                <a:path w="1091149" h="161557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1128" y="6152199"/>
            <a:ext cx="2306166" cy="613411"/>
            <a:chOff x="0" y="0"/>
            <a:chExt cx="607385" cy="161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7385" cy="161557"/>
            </a:xfrm>
            <a:custGeom>
              <a:avLst/>
              <a:gdLst/>
              <a:ahLst/>
              <a:cxnLst/>
              <a:rect l="l" t="t" r="r" b="b"/>
              <a:pathLst>
                <a:path w="607385" h="161557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1128" y="7046598"/>
            <a:ext cx="5382396" cy="641986"/>
            <a:chOff x="0" y="0"/>
            <a:chExt cx="1417586" cy="1690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040466" y="491958"/>
            <a:ext cx="5063940" cy="701725"/>
          </a:xfrm>
          <a:custGeom>
            <a:avLst/>
            <a:gdLst/>
            <a:ahLst/>
            <a:cxnLst/>
            <a:rect l="l" t="t" r="r" b="b"/>
            <a:pathLst>
              <a:path w="5063940" h="701725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3680" b="-92978"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797895" y="180935"/>
            <a:ext cx="1288097" cy="1323772"/>
          </a:xfrm>
          <a:custGeom>
            <a:avLst/>
            <a:gdLst/>
            <a:ahLst/>
            <a:cxnLst/>
            <a:rect l="l" t="t" r="r" b="b"/>
            <a:pathLst>
              <a:path w="1288097" h="1323772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283426" y="378579"/>
            <a:ext cx="3690501" cy="1185729"/>
          </a:xfrm>
          <a:custGeom>
            <a:avLst/>
            <a:gdLst/>
            <a:ahLst/>
            <a:cxnLst/>
            <a:rect l="l" t="t" r="r" b="b"/>
            <a:pathLst>
              <a:path w="3690501" h="1185729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0769" b="-7813"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9966719" y="336677"/>
            <a:ext cx="3036860" cy="1012287"/>
          </a:xfrm>
          <a:custGeom>
            <a:avLst/>
            <a:gdLst/>
            <a:ahLst/>
            <a:cxnLst/>
            <a:rect l="l" t="t" r="r" b="b"/>
            <a:pathLst>
              <a:path w="3036860" h="1012287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4634084" y="173017"/>
            <a:ext cx="2192261" cy="1276152"/>
          </a:xfrm>
          <a:custGeom>
            <a:avLst/>
            <a:gdLst/>
            <a:ahLst/>
            <a:cxnLst/>
            <a:rect l="l" t="t" r="r" b="b"/>
            <a:pathLst>
              <a:path w="2192261" h="1276152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6518" y="4263389"/>
            <a:ext cx="2571155" cy="58039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Name: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7468" y="5200650"/>
            <a:ext cx="3711416" cy="6229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Lead Name: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1877" y="6085524"/>
            <a:ext cx="1347142" cy="59690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Track: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6518" y="7008498"/>
            <a:ext cx="5016937" cy="59690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title: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6723" y="4303632"/>
            <a:ext cx="1534394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200" b="1" dirty="0" err="1">
                <a:solidFill>
                  <a:srgbClr val="000000"/>
                </a:solidFill>
                <a:latin typeface="IBM Plex Sans"/>
              </a:rPr>
              <a:t>lwyrup</a:t>
            </a:r>
            <a:endParaRPr sz="3200" b="1" dirty="0">
              <a:solidFill>
                <a:srgbClr val="000000"/>
              </a:solidFill>
              <a:latin typeface="IBM Plex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6553" y="5323762"/>
            <a:ext cx="343876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BM Plex Sans"/>
              </a:rPr>
              <a:t>Neelagiri Karthikeya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47294" y="6197294"/>
            <a:ext cx="568136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BM Plex Sans"/>
              </a:rPr>
              <a:t>Quantum Security &amp; Cryptography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7940" y="7088664"/>
            <a:ext cx="6538970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800" b="1" dirty="0">
                <a:solidFill>
                  <a:srgbClr val="000000"/>
                </a:solidFill>
                <a:latin typeface="IBM Plex Sans"/>
              </a:rPr>
              <a:t>Detecting Faked Quantum Cloud Jobs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11399" y="1893761"/>
            <a:ext cx="3009085" cy="641986"/>
            <a:chOff x="0" y="0"/>
            <a:chExt cx="79251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2516" cy="169083"/>
            </a:xfrm>
            <a:custGeom>
              <a:avLst/>
              <a:gdLst/>
              <a:ahLst/>
              <a:cxnLst/>
              <a:rect l="l" t="t" r="r" b="b"/>
              <a:pathLst>
                <a:path w="792516" h="169083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969539" y="1887412"/>
            <a:ext cx="1492806" cy="53086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971800"/>
            <a:ext cx="14356080" cy="512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39"/>
              </a:lnSpc>
              <a:spcAft>
                <a:spcPts val="1540"/>
              </a:spcAft>
            </a:pPr>
            <a:r>
              <a:rPr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Quantum time is rented over the cloud,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often through resellers and marketplaces, and billed per second of QPU time.</a:t>
            </a:r>
          </a:p>
          <a:p>
            <a:pPr algn="l">
              <a:spcAft>
                <a:spcPts val="1540"/>
              </a:spcAft>
            </a:pPr>
            <a:r>
              <a:rPr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Customers only get back bitstrings.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There is no way to check that the job actually ran on quantum hardware.</a:t>
            </a:r>
          </a:p>
          <a:p>
            <a:pPr algn="l">
              <a:spcAft>
                <a:spcPts val="1540"/>
              </a:spcAft>
            </a:pPr>
            <a:r>
              <a:rPr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IBM publishes every device's calibration daily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(gate and readout error rates). Anyone can build a realistic noisy simulator from it.</a:t>
            </a:r>
          </a:p>
          <a:p>
            <a:pPr algn="l">
              <a:spcAft>
                <a:spcPts val="1540"/>
              </a:spcAft>
            </a:pPr>
            <a:r>
              <a:rPr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The attack: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a dishonest provider runs small jobs on a laptop simulator built from that public data, returns believably noisy results, and still bills for QPU time.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93915" y="1893761"/>
            <a:ext cx="3272797" cy="641986"/>
            <a:chOff x="0" y="0"/>
            <a:chExt cx="861971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1971" cy="169083"/>
            </a:xfrm>
            <a:custGeom>
              <a:avLst/>
              <a:gdLst/>
              <a:ahLst/>
              <a:cxnLst/>
              <a:rect l="l" t="t" r="r" b="b"/>
              <a:pathLst>
                <a:path w="861971" h="169083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44244"/>
            <a:ext cx="2266474" cy="45529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971800"/>
            <a:ext cx="14356080" cy="5669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Who is affected: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researchers, startups and students paying for QPU time or spending limited free credits.</a:t>
            </a:r>
          </a:p>
          <a:p>
            <a:pPr algn="l"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Silent corruption: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faked results poison benchmarks, papers and error-mitigation studies, and nobody notices.</a:t>
            </a:r>
          </a:p>
          <a:p>
            <a:pPr algn="l"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Trust in the execution layer is a security problem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as quantum access moves to resellers and multi-vendor marketplaces.</a:t>
            </a:r>
          </a:p>
          <a:p>
            <a:pPr algn="l"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The gap: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prior device-fingerprinting work (2025) argues forgery is hard, but only for circuits too large to simulate, and never tests a real forger. Small, simulable jobs, common today, are unprotected.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71046" y="1893761"/>
            <a:ext cx="4012244" cy="641986"/>
            <a:chOff x="0" y="0"/>
            <a:chExt cx="1056723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6723" cy="169083"/>
            </a:xfrm>
            <a:custGeom>
              <a:avLst/>
              <a:gdLst/>
              <a:ahLst/>
              <a:cxnLst/>
              <a:rect l="l" t="t" r="r" b="b"/>
              <a:pathLst>
                <a:path w="1056723" h="16908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38528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26063" y="1937259"/>
            <a:ext cx="3027283" cy="4978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8720" y="2834640"/>
            <a:ext cx="14356080" cy="4019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  <a:spcAft>
                <a:spcPts val="1430"/>
              </a:spcAft>
            </a:pPr>
            <a:r>
              <a:rPr sz="3200" b="1" dirty="0" err="1">
                <a:latin typeface="IBM Plex Sans"/>
              </a:rPr>
              <a:t>GhostQPU</a:t>
            </a:r>
            <a:r>
              <a:rPr sz="3200" b="1" dirty="0">
                <a:latin typeface="IBM Plex Sans"/>
              </a:rPr>
              <a:t>: proof that your quantum job really ran on a quantum computer.</a:t>
            </a:r>
          </a:p>
          <a:p>
            <a:pPr algn="l">
              <a:spcAft>
                <a:spcPts val="1430"/>
              </a:spcAft>
            </a:pPr>
            <a:r>
              <a:rPr sz="156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600" b="1" dirty="0">
                <a:solidFill>
                  <a:srgbClr val="000000"/>
                </a:solidFill>
                <a:latin typeface="IBM Plex Sans"/>
              </a:rPr>
              <a:t>Hidden canaries: </a:t>
            </a:r>
            <a:r>
              <a:rPr sz="2600" b="0" dirty="0">
                <a:solidFill>
                  <a:srgbClr val="000000"/>
                </a:solidFill>
                <a:latin typeface="IBM Plex Sans"/>
              </a:rPr>
              <a:t>30 small test circuits ride inside each 34-circuit job, compiled and shuffled so the provider can't tell which are tests.</a:t>
            </a:r>
          </a:p>
          <a:p>
            <a:pPr algn="l">
              <a:spcAft>
                <a:spcPts val="1430"/>
              </a:spcAft>
            </a:pPr>
            <a:r>
              <a:rPr sz="156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600" b="1" dirty="0">
                <a:solidFill>
                  <a:srgbClr val="000000"/>
                </a:solidFill>
                <a:latin typeface="IBM Plex Sans"/>
              </a:rPr>
              <a:t>Physics a simulator leaves out: </a:t>
            </a:r>
            <a:r>
              <a:rPr sz="2600" b="0" dirty="0">
                <a:solidFill>
                  <a:srgbClr val="000000"/>
                </a:solidFill>
                <a:latin typeface="IBM Plex Sans"/>
              </a:rPr>
              <a:t>canaries trigger coherent error build-up, neighbor crosstalk, context-dependent readout and drift.</a:t>
            </a:r>
          </a:p>
          <a:p>
            <a:pPr algn="l">
              <a:spcAft>
                <a:spcPts val="1430"/>
              </a:spcAft>
            </a:pPr>
            <a:r>
              <a:rPr sz="156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600" b="1" dirty="0">
                <a:solidFill>
                  <a:srgbClr val="000000"/>
                </a:solidFill>
                <a:latin typeface="IBM Plex Sans"/>
              </a:rPr>
              <a:t>Detector: </a:t>
            </a:r>
            <a:r>
              <a:rPr sz="2600" b="0" dirty="0">
                <a:solidFill>
                  <a:srgbClr val="000000"/>
                </a:solidFill>
                <a:latin typeface="IBM Plex Sans"/>
              </a:rPr>
              <a:t>turns canary results into a verdict (Genuine, Forged or Inconclusive). One command: python -m ghostqpu verify &lt;job&gt;.</a:t>
            </a:r>
          </a:p>
          <a:p>
            <a:pPr algn="l">
              <a:spcAft>
                <a:spcPts val="1430"/>
              </a:spcAft>
            </a:pPr>
            <a:r>
              <a:rPr sz="156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600" b="1" dirty="0">
                <a:solidFill>
                  <a:srgbClr val="000000"/>
                </a:solidFill>
                <a:latin typeface="IBM Plex Sans"/>
              </a:rPr>
              <a:t>We built the attacker too: </a:t>
            </a:r>
            <a:r>
              <a:rPr sz="2600" b="0" dirty="0">
                <a:solidFill>
                  <a:srgbClr val="000000"/>
                </a:solidFill>
                <a:latin typeface="IBM Plex Sans"/>
              </a:rPr>
              <a:t>a Forger using the exact calibration live when each job ran, plus a stronger Forger that learns hardware effects.</a:t>
            </a:r>
          </a:p>
          <a:p>
            <a:pPr algn="l">
              <a:spcAft>
                <a:spcPts val="1430"/>
              </a:spcAft>
            </a:pPr>
            <a:r>
              <a:rPr sz="156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600" b="1" dirty="0">
                <a:solidFill>
                  <a:srgbClr val="000000"/>
                </a:solidFill>
                <a:latin typeface="IBM Plex Sans"/>
              </a:rPr>
              <a:t>Disguised canaries: </a:t>
            </a:r>
            <a:r>
              <a:rPr sz="2600" b="0" dirty="0">
                <a:solidFill>
                  <a:srgbClr val="000000"/>
                </a:solidFill>
                <a:latin typeface="IBM Plex Sans"/>
              </a:rPr>
              <a:t>a random circuit followed by its reverse looks like customer work, yet still exposes the Forger.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906921" y="1893761"/>
            <a:ext cx="3533419" cy="641986"/>
            <a:chOff x="0" y="0"/>
            <a:chExt cx="930612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0612" cy="169083"/>
            </a:xfrm>
            <a:custGeom>
              <a:avLst/>
              <a:gdLst/>
              <a:ahLst/>
              <a:cxnLst/>
              <a:rect l="l" t="t" r="r" b="b"/>
              <a:pathLst>
                <a:path w="930612" h="169083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35716" y="-2857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63294"/>
            <a:ext cx="2342555" cy="45529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Quantum?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971800"/>
            <a:ext cx="14356080" cy="5669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The evidence is quantum: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the fingerprint is the physical noise of the real chip, which only exists on quantum hardware.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Canaries amplify it: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128 repeated X gates turn tiny coherent over-rotations into a 91% error on ibm_kingston, where the Forger predicts 2%.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Why calibration can't fake it: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published calibration describes each gate on its own with average error rates. Real qubits have coherent, correlated, time-varying noise.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Real hardware: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three 156-qubit IBM Heron devices (ibm_marrakesh, ibm_fez, ibm_kingston) through Qiskit Runtime, on the free plan.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97750" y="1893761"/>
            <a:ext cx="5382396" cy="641986"/>
            <a:chOff x="0" y="0"/>
            <a:chExt cx="141758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298992" y="1988059"/>
            <a:ext cx="4566285" cy="40576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and 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743200"/>
            <a:ext cx="14356080" cy="61837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  <a:spcAft>
                <a:spcPts val="1210"/>
              </a:spcAft>
            </a:pPr>
            <a:r>
              <a:rPr sz="3200" b="1" dirty="0">
                <a:latin typeface="IBM Plex Sans"/>
              </a:rPr>
              <a:t>Pipeline</a:t>
            </a:r>
          </a:p>
          <a:p>
            <a:pPr algn="l">
              <a:spcAft>
                <a:spcPts val="121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Calibration snapshot → Batch builder (canaries + workload, shuffled) → IBM QPU (Qiskit Runtime Sampler, twirling and dynamical decoupling off) → Collect, plus the calibration live at execution → Forger (Qiskit Aer + that calibration) → Signature (12 features per time chunk) → Detector → Verdict</a:t>
            </a:r>
          </a:p>
          <a:p>
            <a:pPr algn="l">
              <a:spcAft>
                <a:spcPts val="121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Quantum components: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3 canary families on 4 isolated qubit pairs at transpiler level 0, plus CNOT and disguised mirror pilot circuits.</a:t>
            </a:r>
          </a:p>
          <a:p>
            <a:pPr algn="l">
              <a:spcAft>
                <a:spcPts val="121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Classical components: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Python, Qiskit 2.5, Qiskit Aer, scikit-learn logistic regression, Next.js + three.js site deployed on GitHub Pages.</a:t>
            </a:r>
          </a:p>
          <a:p>
            <a:pPr algn="l">
              <a:spcAft>
                <a:spcPts val="121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Engineering: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CLI (submit / collect / verify / evaluate / null-test), 36 automated tests, hardware-simulator bit-order parity test, seeded Forger.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68821" y="1903286"/>
            <a:ext cx="3925250" cy="641986"/>
            <a:chOff x="0" y="0"/>
            <a:chExt cx="1033811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3811" cy="169083"/>
            </a:xfrm>
            <a:custGeom>
              <a:avLst/>
              <a:gdLst/>
              <a:ahLst/>
              <a:cxnLst/>
              <a:rect l="l" t="t" r="r" b="b"/>
              <a:pathLst>
                <a:path w="1033811" h="169083">
                  <a:moveTo>
                    <a:pt x="84541" y="0"/>
                  </a:moveTo>
                  <a:lnTo>
                    <a:pt x="949269" y="0"/>
                  </a:lnTo>
                  <a:cubicBezTo>
                    <a:pt x="971691" y="0"/>
                    <a:pt x="993195" y="8907"/>
                    <a:pt x="1009049" y="24762"/>
                  </a:cubicBezTo>
                  <a:cubicBezTo>
                    <a:pt x="1024904" y="40616"/>
                    <a:pt x="1033811" y="62120"/>
                    <a:pt x="1033811" y="84541"/>
                  </a:cubicBezTo>
                  <a:lnTo>
                    <a:pt x="1033811" y="84541"/>
                  </a:lnTo>
                  <a:cubicBezTo>
                    <a:pt x="1033811" y="106963"/>
                    <a:pt x="1024904" y="128467"/>
                    <a:pt x="1009049" y="144321"/>
                  </a:cubicBezTo>
                  <a:cubicBezTo>
                    <a:pt x="993195" y="160176"/>
                    <a:pt x="971691" y="169083"/>
                    <a:pt x="949269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33811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14703" y="-21778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362389" y="1945514"/>
            <a:ext cx="2915245" cy="48133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Minimal Prototype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834640"/>
            <a:ext cx="14356080" cy="5134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Working end-to-end tool: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python -m ghostqpu submit / collect / verify / evaluate / null-test.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Real hardware runs: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23 jobs on ibm_marrakesh, ibm_fez and ibm_kingston over 18 calibration cycles and 4 days, each with a forged twin.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Live site: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jacklachan.github.io/GhostQPU, a six-chapter story with a console that replays real IBM jobs for a blind verdict.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Interactive: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a Bloch sphere driven by measured data, and a lab where you play the Forger against the real frozen Detector.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Pilots on hardware: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CNOT canaries, disguised mirror canaries and real 250-shot cost checks on all three machines.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430"/>
              </a:spcAft>
            </a:pPr>
            <a:r>
              <a:rPr sz="1600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 dirty="0">
                <a:solidFill>
                  <a:srgbClr val="000000"/>
                </a:solidFill>
                <a:latin typeface="IBM Plex Sans"/>
              </a:rPr>
              <a:t>Open: </a:t>
            </a:r>
            <a:r>
              <a:rPr sz="2800" b="0" dirty="0">
                <a:solidFill>
                  <a:srgbClr val="000000"/>
                </a:solidFill>
                <a:latin typeface="IBM Plex Sans"/>
              </a:rPr>
              <a:t>every run, calibration snapshot and research note is in the GitHub repo.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045033" y="1893761"/>
            <a:ext cx="3482300" cy="641986"/>
            <a:chOff x="0" y="0"/>
            <a:chExt cx="91714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7149" cy="169083"/>
            </a:xfrm>
            <a:custGeom>
              <a:avLst/>
              <a:gdLst/>
              <a:ahLst/>
              <a:cxnLst/>
              <a:rect l="l" t="t" r="r" b="b"/>
              <a:pathLst>
                <a:path w="917149" h="169083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550865" y="1969009"/>
            <a:ext cx="2641044" cy="40576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/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8720" y="5852160"/>
            <a:ext cx="14356080" cy="3291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Frozen Detector, scored blind: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46 of 46 later jobs correct (23 real, 23 forged), 18 cycles, 3 machines.</a:t>
            </a:r>
          </a:p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Held out by cycle: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AUC 1.00, 50 of 50 over 19 cycles. Trained only on earlier days: 46 of 46.</a:t>
            </a:r>
          </a:p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Null test: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simulator vs Forger scores AUC 0.52 (chance), so it detects physics, not formatting.</a:t>
            </a:r>
          </a:p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Cost: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1.5 QPU seconds of canaries still calls all 50 jobs right.</a:t>
            </a:r>
          </a:p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Why AUC is 1.00: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public calibration has no coherent error, so the Forger is 2-4% wrong where hardware is 30-90%.</a:t>
            </a:r>
          </a:p>
          <a:p>
            <a:pPr algn="l">
              <a:lnSpc>
                <a:spcPts val="2939"/>
              </a:lnSpc>
              <a:spcAft>
                <a:spcPts val="1210"/>
              </a:spcAft>
            </a:pPr>
            <a:r>
              <a:rPr sz="132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200" b="1">
                <a:solidFill>
                  <a:srgbClr val="000000"/>
                </a:solidFill>
                <a:latin typeface="IBM Plex Sans"/>
              </a:rPr>
              <a:t>Smarter Forger: </a:t>
            </a:r>
            <a:r>
              <a:rPr sz="2200" b="0">
                <a:solidFill>
                  <a:srgbClr val="000000"/>
                </a:solidFill>
                <a:latin typeface="IBM Plex Sans"/>
              </a:rPr>
              <a:t>learning from a real job fooled the frozen Detector 12/13; retrained, caught 12/13.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1188720" y="2880360"/>
          <a:ext cx="143560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IBM Plex Sans"/>
                        </a:rPr>
                        <a:t>Canary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IBM Plex Sans"/>
                        </a:rPr>
                        <a:t>Real hardware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IBM Plex Sans"/>
                        </a:rPr>
                        <a:t>Forger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IBM Plex Sans"/>
                        </a:rPr>
                        <a:t>Error after 128 X gates (kingston)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3131"/>
                          </a:solidFill>
                          <a:latin typeface="IBM Plex Sans"/>
                        </a:rPr>
                        <a:t>91%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IBM Plex Sans"/>
                        </a:rPr>
                        <a:t>2%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IBM Plex Sans"/>
                        </a:rPr>
                        <a:t>Idle-qubit shift from neighbor (fez)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3131"/>
                          </a:solidFill>
                          <a:latin typeface="IBM Plex Sans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IBM Plex Sans"/>
                        </a:rPr>
                        <a:t>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000000"/>
                          </a:solidFill>
                          <a:latin typeface="IBM Plex Sans"/>
                        </a:rPr>
                        <a:t>Disguised canary all-zero rate (marrakesh)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3131"/>
                          </a:solidFill>
                          <a:latin typeface="IBM Plex Sans"/>
                        </a:rPr>
                        <a:t>76%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000000"/>
                          </a:solidFill>
                          <a:latin typeface="IBM Plex Sans"/>
                        </a:rPr>
                        <a:t>88%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98248" y="1922336"/>
            <a:ext cx="2642092" cy="641986"/>
            <a:chOff x="0" y="0"/>
            <a:chExt cx="695860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5860" cy="169083"/>
            </a:xfrm>
            <a:custGeom>
              <a:avLst/>
              <a:gdLst/>
              <a:ahLst/>
              <a:cxnLst/>
              <a:rect l="l" t="t" r="r" b="b"/>
              <a:pathLst>
                <a:path w="695860" h="169083">
                  <a:moveTo>
                    <a:pt x="84541" y="0"/>
                  </a:moveTo>
                  <a:lnTo>
                    <a:pt x="611318" y="0"/>
                  </a:lnTo>
                  <a:cubicBezTo>
                    <a:pt x="633740" y="0"/>
                    <a:pt x="655243" y="8907"/>
                    <a:pt x="671098" y="24762"/>
                  </a:cubicBezTo>
                  <a:cubicBezTo>
                    <a:pt x="686953" y="40616"/>
                    <a:pt x="695860" y="62120"/>
                    <a:pt x="695860" y="84541"/>
                  </a:cubicBezTo>
                  <a:lnTo>
                    <a:pt x="695860" y="84541"/>
                  </a:lnTo>
                  <a:cubicBezTo>
                    <a:pt x="695860" y="106963"/>
                    <a:pt x="686953" y="128467"/>
                    <a:pt x="671098" y="144321"/>
                  </a:cubicBezTo>
                  <a:cubicBezTo>
                    <a:pt x="655243" y="160176"/>
                    <a:pt x="633740" y="169083"/>
                    <a:pt x="61131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95860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990242" y="-236831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200432" y="8538631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8499623" y="1988059"/>
            <a:ext cx="1306116" cy="40576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Roadmap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8720" y="2971800"/>
            <a:ext cx="14356080" cy="5669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Done since 10 Oct: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cross-day and cross-backend validation (ibm_fez, ibm_kingston), 85% lower canary cost, disguised canaries.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Canary-aware forger: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our stronger Forger fooled the original Detector; next, require evidence from two canary families.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CNOT canary family: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73% vs 10% on marrakesh qubits 107-108, detected on 13 of 16 pairs; make it a production family.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Customer SDK: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a drop-in wrapper that injects canaries into every job and returns a signed verification report.</a:t>
            </a:r>
          </a:p>
          <a:p>
            <a:pPr algn="l">
              <a:lnSpc>
                <a:spcPts val="3219"/>
              </a:lnSpc>
              <a:spcBef>
                <a:spcPct val="0"/>
              </a:spcBef>
              <a:spcAft>
                <a:spcPts val="1540"/>
              </a:spcAft>
            </a:pPr>
            <a:r>
              <a:rPr sz="1680" b="0">
                <a:solidFill>
                  <a:srgbClr val="FF3131"/>
                </a:solidFill>
                <a:latin typeface="IBM Plex Sans"/>
              </a:rPr>
              <a:t>■  </a:t>
            </a:r>
            <a:r>
              <a:rPr sz="2800" b="1">
                <a:solidFill>
                  <a:srgbClr val="000000"/>
                </a:solidFill>
                <a:latin typeface="IBM Plex Sans"/>
              </a:rPr>
              <a:t>Scale the evidence: </a:t>
            </a:r>
            <a:r>
              <a:rPr sz="2800" b="0">
                <a:solidFill>
                  <a:srgbClr val="000000"/>
                </a:solidFill>
                <a:latin typeface="IBM Plex Sans"/>
              </a:rPr>
              <a:t>weeks of daily runs and more cloud providers to tighten the false-alarm bound.</a:t>
            </a:r>
          </a:p>
        </p:txBody>
      </p:sp>
      <p:sp>
        <p:nvSpPr>
          <p:cNvPr id="24" name="Freeform 24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990242" y="9984655"/>
            <a:ext cx="173987" cy="1739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3346" y="9948585"/>
            <a:ext cx="173987" cy="1739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75310" y="1893761"/>
            <a:ext cx="4381968" cy="641986"/>
            <a:chOff x="0" y="0"/>
            <a:chExt cx="115409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4099" cy="169083"/>
            </a:xfrm>
            <a:custGeom>
              <a:avLst/>
              <a:gdLst/>
              <a:ahLst/>
              <a:cxnLst/>
              <a:rect l="l" t="t" r="r" b="b"/>
              <a:pathLst>
                <a:path w="1154099" h="169083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316142" y="9882546"/>
            <a:ext cx="1743273" cy="2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90903" y="-208256"/>
            <a:ext cx="2134862" cy="2130592"/>
          </a:xfrm>
          <a:custGeom>
            <a:avLst/>
            <a:gdLst/>
            <a:ahLst/>
            <a:cxnLst/>
            <a:rect l="l" t="t" r="r" b="b"/>
            <a:pathLst>
              <a:path w="2134862" h="213059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91149" y="2009332"/>
            <a:ext cx="3020616" cy="37274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and 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8720" y="2834640"/>
            <a:ext cx="14356080" cy="407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  <a:spcAft>
                <a:spcPts val="1320"/>
              </a:spcAft>
            </a:pPr>
            <a:r>
              <a:rPr sz="1439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Prior work: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Martina et al. 2022; Pirnay et al. 2022 (forged single-qubit fingerprints); Mutolo et al. 2025 (fingerprinting, no tested forger); Wu, Hu, Li 2024 (catches device substitution, not simulation).</a:t>
            </a:r>
          </a:p>
          <a:p>
            <a:pPr algn="l">
              <a:lnSpc>
                <a:spcPts val="2939"/>
              </a:lnSpc>
              <a:spcBef>
                <a:spcPct val="0"/>
              </a:spcBef>
              <a:spcAft>
                <a:spcPts val="1320"/>
              </a:spcAft>
            </a:pPr>
            <a:r>
              <a:rPr sz="1439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IBM Quantum Platform: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Open plan, Heron backends and published calibration data (quantum.cloud.ibm.com).</a:t>
            </a:r>
          </a:p>
          <a:p>
            <a:pPr algn="l">
              <a:lnSpc>
                <a:spcPts val="2939"/>
              </a:lnSpc>
              <a:spcBef>
                <a:spcPct val="0"/>
              </a:spcBef>
              <a:spcAft>
                <a:spcPts val="1320"/>
              </a:spcAft>
            </a:pPr>
            <a:r>
              <a:rPr sz="1439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Software: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Qiskit, Qiskit Aer, Qiskit IBM Runtime, scikit-learn, Next.js, three.js.</a:t>
            </a:r>
          </a:p>
          <a:p>
            <a:pPr algn="l">
              <a:lnSpc>
                <a:spcPts val="2939"/>
              </a:lnSpc>
              <a:spcBef>
                <a:spcPct val="0"/>
              </a:spcBef>
              <a:spcAft>
                <a:spcPts val="1320"/>
              </a:spcAft>
            </a:pPr>
            <a:r>
              <a:rPr sz="1439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Our code and site: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github.com/Karthikeya47/GhostQPU · jacklachan.github.io/GhostQPU (all implementation is the team's own work).</a:t>
            </a:r>
          </a:p>
          <a:p>
            <a:pPr algn="l">
              <a:lnSpc>
                <a:spcPts val="2939"/>
              </a:lnSpc>
              <a:spcBef>
                <a:spcPct val="0"/>
              </a:spcBef>
              <a:spcAft>
                <a:spcPts val="1320"/>
              </a:spcAft>
            </a:pPr>
            <a:r>
              <a:rPr sz="1439" b="0" dirty="0">
                <a:solidFill>
                  <a:srgbClr val="FF3131"/>
                </a:solidFill>
                <a:latin typeface="IBM Plex Sans"/>
              </a:rPr>
              <a:t>■  </a:t>
            </a:r>
            <a:r>
              <a:rPr sz="3200" b="1" dirty="0">
                <a:solidFill>
                  <a:srgbClr val="000000"/>
                </a:solidFill>
                <a:latin typeface="IBM Plex Sans"/>
              </a:rPr>
              <a:t>Team lwyrup: </a:t>
            </a:r>
            <a:r>
              <a:rPr sz="3200" b="0" dirty="0">
                <a:solidFill>
                  <a:srgbClr val="000000"/>
                </a:solidFill>
                <a:latin typeface="IBM Plex Sans"/>
              </a:rPr>
              <a:t>Neelagiri Karthikeya (lead), L Mohit Jain, Tanvi Jain, Aditi Gorti.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4376" y="407706"/>
            <a:ext cx="3092172" cy="1030724"/>
          </a:xfrm>
          <a:custGeom>
            <a:avLst/>
            <a:gdLst/>
            <a:ahLst/>
            <a:cxnLst/>
            <a:rect l="l" t="t" r="r" b="b"/>
            <a:pathLst>
              <a:path w="3092172" h="1030724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1093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Q-Hack_India26</dc:title>
  <cp:lastModifiedBy>Karthikeya Neelagiri</cp:lastModifiedBy>
  <cp:revision>3</cp:revision>
  <dcterms:created xsi:type="dcterms:W3CDTF">2006-08-16T00:00:00Z</dcterms:created>
  <dcterms:modified xsi:type="dcterms:W3CDTF">2026-10-10T18:28:00Z</dcterms:modified>
  <dc:identifier>DAHWTXXNjRc</dc:identifier>
</cp:coreProperties>
</file>