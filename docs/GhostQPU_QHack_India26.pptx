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IBM Plex Sans" charset="1" panose="020B0503050203000203"/>
      <p:regular r:id="rId16"/>
    </p:embeddedFont>
    <p:embeddedFont>
      <p:font typeface="IBM Plex Sans Bold" charset="1" panose="020B0803050203000203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9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1.png"/><Relationship Id="rId6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9.png"/><Relationship Id="rId6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1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1.png"/><Relationship Id="rId6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1.png"/><Relationship Id="rId6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1.png"/><Relationship Id="rId6" Type="http://schemas.openxmlformats.org/officeDocument/2006/relationships/image" Target="../media/image7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0E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97105" y="2516808"/>
            <a:ext cx="2625805" cy="830953"/>
            <a:chOff x="0" y="0"/>
            <a:chExt cx="5816600" cy="18407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2928206" y="9780631"/>
            <a:ext cx="2625805" cy="830953"/>
            <a:chOff x="0" y="0"/>
            <a:chExt cx="5816600" cy="18407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3367623" y="9656173"/>
            <a:ext cx="2625805" cy="830953"/>
            <a:chOff x="0" y="0"/>
            <a:chExt cx="5816600" cy="18407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140647" y="2730987"/>
            <a:ext cx="5634028" cy="6185198"/>
            <a:chOff x="0" y="0"/>
            <a:chExt cx="15229294" cy="167191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5229332" cy="16719131"/>
            </a:xfrm>
            <a:custGeom>
              <a:avLst/>
              <a:gdLst/>
              <a:ahLst/>
              <a:cxnLst/>
              <a:rect r="r" b="b" t="t" l="l"/>
              <a:pathLst>
                <a:path h="16719131" w="15229332">
                  <a:moveTo>
                    <a:pt x="1287347" y="0"/>
                  </a:moveTo>
                  <a:lnTo>
                    <a:pt x="13941985" y="0"/>
                  </a:lnTo>
                  <a:cubicBezTo>
                    <a:pt x="14283410" y="0"/>
                    <a:pt x="14610852" y="135631"/>
                    <a:pt x="14852276" y="377055"/>
                  </a:cubicBezTo>
                  <a:cubicBezTo>
                    <a:pt x="15093702" y="618480"/>
                    <a:pt x="15229332" y="945922"/>
                    <a:pt x="15229332" y="1287347"/>
                  </a:cubicBezTo>
                  <a:lnTo>
                    <a:pt x="15229332" y="15431784"/>
                  </a:lnTo>
                  <a:cubicBezTo>
                    <a:pt x="15229332" y="15773209"/>
                    <a:pt x="15093702" y="16100651"/>
                    <a:pt x="14852276" y="16342077"/>
                  </a:cubicBezTo>
                  <a:cubicBezTo>
                    <a:pt x="14610852" y="16583501"/>
                    <a:pt x="14283410" y="16719131"/>
                    <a:pt x="13941985" y="16719131"/>
                  </a:cubicBezTo>
                  <a:lnTo>
                    <a:pt x="1287347" y="16719131"/>
                  </a:lnTo>
                  <a:cubicBezTo>
                    <a:pt x="945922" y="16719131"/>
                    <a:pt x="618480" y="16583501"/>
                    <a:pt x="377055" y="16342077"/>
                  </a:cubicBezTo>
                  <a:cubicBezTo>
                    <a:pt x="135631" y="16100651"/>
                    <a:pt x="0" y="15773209"/>
                    <a:pt x="0" y="15431784"/>
                  </a:cubicBezTo>
                  <a:lnTo>
                    <a:pt x="0" y="1287347"/>
                  </a:lnTo>
                  <a:cubicBezTo>
                    <a:pt x="0" y="945922"/>
                    <a:pt x="135631" y="618480"/>
                    <a:pt x="377055" y="377055"/>
                  </a:cubicBezTo>
                  <a:cubicBezTo>
                    <a:pt x="618480" y="135631"/>
                    <a:pt x="945922" y="0"/>
                    <a:pt x="1287347" y="0"/>
                  </a:cubicBezTo>
                  <a:close/>
                </a:path>
              </a:pathLst>
            </a:custGeom>
            <a:blipFill>
              <a:blip r:embed="rId3"/>
              <a:stretch>
                <a:fillRect l="0" t="-67" r="0" b="-67"/>
              </a:stretch>
            </a:blipFill>
            <a:ln w="38100" cap="rnd">
              <a:solidFill>
                <a:srgbClr val="471B2B"/>
              </a:solidFill>
              <a:prstDash val="solid"/>
              <a:round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7990242" y="9984655"/>
            <a:ext cx="173987" cy="173987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353346" y="9948585"/>
            <a:ext cx="173987" cy="173987"/>
            <a:chOff x="0" y="0"/>
            <a:chExt cx="812800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5554011" y="1808824"/>
            <a:ext cx="5931138" cy="1977046"/>
          </a:xfrm>
          <a:custGeom>
            <a:avLst/>
            <a:gdLst/>
            <a:ahLst/>
            <a:cxnLst/>
            <a:rect r="r" b="b" t="t" l="l"/>
            <a:pathLst>
              <a:path h="1977046" w="5931138">
                <a:moveTo>
                  <a:pt x="0" y="0"/>
                </a:moveTo>
                <a:lnTo>
                  <a:pt x="5931138" y="0"/>
                </a:lnTo>
                <a:lnTo>
                  <a:pt x="5931138" y="1977046"/>
                </a:lnTo>
                <a:lnTo>
                  <a:pt x="0" y="19770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491128" y="4301489"/>
            <a:ext cx="3086100" cy="613411"/>
            <a:chOff x="0" y="0"/>
            <a:chExt cx="812800" cy="16155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161557"/>
            </a:xfrm>
            <a:custGeom>
              <a:avLst/>
              <a:gdLst/>
              <a:ahLst/>
              <a:cxnLst/>
              <a:rect r="r" b="b" t="t" l="l"/>
              <a:pathLst>
                <a:path h="161557" w="812800">
                  <a:moveTo>
                    <a:pt x="80778" y="0"/>
                  </a:moveTo>
                  <a:lnTo>
                    <a:pt x="732022" y="0"/>
                  </a:lnTo>
                  <a:cubicBezTo>
                    <a:pt x="776634" y="0"/>
                    <a:pt x="812800" y="36166"/>
                    <a:pt x="812800" y="80778"/>
                  </a:cubicBezTo>
                  <a:lnTo>
                    <a:pt x="812800" y="80778"/>
                  </a:lnTo>
                  <a:cubicBezTo>
                    <a:pt x="812800" y="102202"/>
                    <a:pt x="804289" y="122749"/>
                    <a:pt x="789141" y="137897"/>
                  </a:cubicBezTo>
                  <a:cubicBezTo>
                    <a:pt x="773992" y="153046"/>
                    <a:pt x="753445" y="161557"/>
                    <a:pt x="732022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812800" cy="1901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491128" y="5253037"/>
            <a:ext cx="4142956" cy="613411"/>
            <a:chOff x="0" y="0"/>
            <a:chExt cx="1091149" cy="161557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91149" cy="161557"/>
            </a:xfrm>
            <a:custGeom>
              <a:avLst/>
              <a:gdLst/>
              <a:ahLst/>
              <a:cxnLst/>
              <a:rect r="r" b="b" t="t" l="l"/>
              <a:pathLst>
                <a:path h="161557" w="1091149">
                  <a:moveTo>
                    <a:pt x="80778" y="0"/>
                  </a:moveTo>
                  <a:lnTo>
                    <a:pt x="1010370" y="0"/>
                  </a:lnTo>
                  <a:cubicBezTo>
                    <a:pt x="1054983" y="0"/>
                    <a:pt x="1091149" y="36166"/>
                    <a:pt x="1091149" y="80778"/>
                  </a:cubicBezTo>
                  <a:lnTo>
                    <a:pt x="1091149" y="80778"/>
                  </a:lnTo>
                  <a:cubicBezTo>
                    <a:pt x="1091149" y="102202"/>
                    <a:pt x="1082638" y="122749"/>
                    <a:pt x="1067489" y="137897"/>
                  </a:cubicBezTo>
                  <a:cubicBezTo>
                    <a:pt x="1052340" y="153046"/>
                    <a:pt x="1031794" y="161557"/>
                    <a:pt x="1010370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1091149" cy="1901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491128" y="6152199"/>
            <a:ext cx="2306166" cy="613411"/>
            <a:chOff x="0" y="0"/>
            <a:chExt cx="607385" cy="161557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07385" cy="161557"/>
            </a:xfrm>
            <a:custGeom>
              <a:avLst/>
              <a:gdLst/>
              <a:ahLst/>
              <a:cxnLst/>
              <a:rect r="r" b="b" t="t" l="l"/>
              <a:pathLst>
                <a:path h="161557" w="607385">
                  <a:moveTo>
                    <a:pt x="80778" y="0"/>
                  </a:moveTo>
                  <a:lnTo>
                    <a:pt x="526607" y="0"/>
                  </a:lnTo>
                  <a:cubicBezTo>
                    <a:pt x="571220" y="0"/>
                    <a:pt x="607385" y="36166"/>
                    <a:pt x="607385" y="80778"/>
                  </a:cubicBezTo>
                  <a:lnTo>
                    <a:pt x="607385" y="80778"/>
                  </a:lnTo>
                  <a:cubicBezTo>
                    <a:pt x="607385" y="102202"/>
                    <a:pt x="598875" y="122749"/>
                    <a:pt x="583726" y="137897"/>
                  </a:cubicBezTo>
                  <a:cubicBezTo>
                    <a:pt x="568577" y="153046"/>
                    <a:pt x="548031" y="161557"/>
                    <a:pt x="526607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28575"/>
              <a:ext cx="607385" cy="1901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491128" y="7046598"/>
            <a:ext cx="5382396" cy="641986"/>
            <a:chOff x="0" y="0"/>
            <a:chExt cx="1417586" cy="169083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417586" cy="169083"/>
            </a:xfrm>
            <a:custGeom>
              <a:avLst/>
              <a:gdLst/>
              <a:ahLst/>
              <a:cxnLst/>
              <a:rect r="r" b="b" t="t" l="l"/>
              <a:pathLst>
                <a:path h="169083" w="1417586">
                  <a:moveTo>
                    <a:pt x="84541" y="0"/>
                  </a:moveTo>
                  <a:lnTo>
                    <a:pt x="1333045" y="0"/>
                  </a:lnTo>
                  <a:cubicBezTo>
                    <a:pt x="1355466" y="0"/>
                    <a:pt x="1376970" y="8907"/>
                    <a:pt x="1392824" y="24762"/>
                  </a:cubicBezTo>
                  <a:cubicBezTo>
                    <a:pt x="1408679" y="40616"/>
                    <a:pt x="1417586" y="62120"/>
                    <a:pt x="1417586" y="84541"/>
                  </a:cubicBezTo>
                  <a:lnTo>
                    <a:pt x="1417586" y="84541"/>
                  </a:lnTo>
                  <a:cubicBezTo>
                    <a:pt x="1417586" y="106963"/>
                    <a:pt x="1408679" y="128467"/>
                    <a:pt x="1392824" y="144321"/>
                  </a:cubicBezTo>
                  <a:cubicBezTo>
                    <a:pt x="1376970" y="160176"/>
                    <a:pt x="1355466" y="169083"/>
                    <a:pt x="133304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28575"/>
              <a:ext cx="1417586" cy="1976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sp>
        <p:nvSpPr>
          <p:cNvPr name="Freeform 29" id="29"/>
          <p:cNvSpPr/>
          <p:nvPr/>
        </p:nvSpPr>
        <p:spPr>
          <a:xfrm flipH="false" flipV="false" rot="0">
            <a:off x="13040466" y="491958"/>
            <a:ext cx="5063940" cy="701725"/>
          </a:xfrm>
          <a:custGeom>
            <a:avLst/>
            <a:gdLst/>
            <a:ahLst/>
            <a:cxnLst/>
            <a:rect r="r" b="b" t="t" l="l"/>
            <a:pathLst>
              <a:path h="701725" w="5063940">
                <a:moveTo>
                  <a:pt x="0" y="0"/>
                </a:moveTo>
                <a:lnTo>
                  <a:pt x="5063940" y="0"/>
                </a:lnTo>
                <a:lnTo>
                  <a:pt x="5063940" y="701725"/>
                </a:lnTo>
                <a:lnTo>
                  <a:pt x="0" y="7017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83680" r="0" b="-92978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7797895" y="180935"/>
            <a:ext cx="1288097" cy="1323772"/>
          </a:xfrm>
          <a:custGeom>
            <a:avLst/>
            <a:gdLst/>
            <a:ahLst/>
            <a:cxnLst/>
            <a:rect r="r" b="b" t="t" l="l"/>
            <a:pathLst>
              <a:path h="1323772" w="1288097">
                <a:moveTo>
                  <a:pt x="0" y="0"/>
                </a:moveTo>
                <a:lnTo>
                  <a:pt x="1288097" y="0"/>
                </a:lnTo>
                <a:lnTo>
                  <a:pt x="1288097" y="1323771"/>
                </a:lnTo>
                <a:lnTo>
                  <a:pt x="0" y="13237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8975" t="-25223" r="-28835" b="-18316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283426" y="378579"/>
            <a:ext cx="3690501" cy="1185729"/>
          </a:xfrm>
          <a:custGeom>
            <a:avLst/>
            <a:gdLst/>
            <a:ahLst/>
            <a:cxnLst/>
            <a:rect r="r" b="b" t="t" l="l"/>
            <a:pathLst>
              <a:path h="1185729" w="3690501">
                <a:moveTo>
                  <a:pt x="0" y="0"/>
                </a:moveTo>
                <a:lnTo>
                  <a:pt x="3690501" y="0"/>
                </a:lnTo>
                <a:lnTo>
                  <a:pt x="3690501" y="1185729"/>
                </a:lnTo>
                <a:lnTo>
                  <a:pt x="0" y="11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-20769" r="0" b="-7813"/>
            </a:stretch>
          </a:blipFill>
        </p:spPr>
      </p:sp>
      <p:sp>
        <p:nvSpPr>
          <p:cNvPr name="Freeform 32" id="32"/>
          <p:cNvSpPr/>
          <p:nvPr/>
        </p:nvSpPr>
        <p:spPr>
          <a:xfrm flipH="false" flipV="false" rot="0">
            <a:off x="9966719" y="336677"/>
            <a:ext cx="3036860" cy="1012287"/>
          </a:xfrm>
          <a:custGeom>
            <a:avLst/>
            <a:gdLst/>
            <a:ahLst/>
            <a:cxnLst/>
            <a:rect r="r" b="b" t="t" l="l"/>
            <a:pathLst>
              <a:path h="1012287" w="3036860">
                <a:moveTo>
                  <a:pt x="0" y="0"/>
                </a:moveTo>
                <a:lnTo>
                  <a:pt x="3036860" y="0"/>
                </a:lnTo>
                <a:lnTo>
                  <a:pt x="3036860" y="1012287"/>
                </a:lnTo>
                <a:lnTo>
                  <a:pt x="0" y="10122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33" id="33"/>
          <p:cNvSpPr/>
          <p:nvPr/>
        </p:nvSpPr>
        <p:spPr>
          <a:xfrm flipH="false" flipV="false" rot="0">
            <a:off x="4634084" y="173017"/>
            <a:ext cx="2192261" cy="1276152"/>
          </a:xfrm>
          <a:custGeom>
            <a:avLst/>
            <a:gdLst/>
            <a:ahLst/>
            <a:cxnLst/>
            <a:rect r="r" b="b" t="t" l="l"/>
            <a:pathLst>
              <a:path h="1276152" w="2192261">
                <a:moveTo>
                  <a:pt x="0" y="0"/>
                </a:moveTo>
                <a:lnTo>
                  <a:pt x="2192261" y="0"/>
                </a:lnTo>
                <a:lnTo>
                  <a:pt x="2192261" y="1276152"/>
                </a:lnTo>
                <a:lnTo>
                  <a:pt x="0" y="12761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34" id="34"/>
          <p:cNvSpPr txBox="true"/>
          <p:nvPr/>
        </p:nvSpPr>
        <p:spPr>
          <a:xfrm rot="0">
            <a:off x="8316142" y="9882546"/>
            <a:ext cx="1743273" cy="264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56518" y="4263389"/>
            <a:ext cx="2571155" cy="580391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Team Name: 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37468" y="5200650"/>
            <a:ext cx="3711416" cy="622936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Team Lead Name: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771877" y="6085524"/>
            <a:ext cx="1347142" cy="596901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Track: 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756518" y="7008498"/>
            <a:ext cx="5016937" cy="596901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Problem Statement title: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27228" y="4301489"/>
            <a:ext cx="6500000" cy="61341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IBM Plex Sans"/>
              </a:rPr>
              <a:t>lwyrup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84084" y="5253037"/>
            <a:ext cx="6500000" cy="61341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IBM Plex Sans"/>
              </a:rPr>
              <a:t>Neelagiri Karthikeya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47294" y="6152199"/>
            <a:ext cx="6500000" cy="61341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IBM Plex Sans"/>
              </a:rPr>
              <a:t>Quantum Security &amp; Cryptography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23524" y="7046598"/>
            <a:ext cx="6500000" cy="64198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IBM Plex Sans"/>
              </a:rPr>
              <a:t>Detecting Faked Quantum Cloud Jobs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0E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97105" y="2516808"/>
            <a:ext cx="2625805" cy="830953"/>
            <a:chOff x="0" y="0"/>
            <a:chExt cx="5816600" cy="18407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2928206" y="9780631"/>
            <a:ext cx="2625805" cy="830953"/>
            <a:chOff x="0" y="0"/>
            <a:chExt cx="5816600" cy="18407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3367623" y="9656173"/>
            <a:ext cx="2625805" cy="830953"/>
            <a:chOff x="0" y="0"/>
            <a:chExt cx="5816600" cy="18407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7990242" y="9984655"/>
            <a:ext cx="173987" cy="173987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353346" y="9948585"/>
            <a:ext cx="173987" cy="17398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7211399" y="1893761"/>
            <a:ext cx="3009085" cy="641986"/>
            <a:chOff x="0" y="0"/>
            <a:chExt cx="792516" cy="16908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92516" cy="169083"/>
            </a:xfrm>
            <a:custGeom>
              <a:avLst/>
              <a:gdLst/>
              <a:ahLst/>
              <a:cxnLst/>
              <a:rect r="r" b="b" t="t" l="l"/>
              <a:pathLst>
                <a:path h="169083" w="792516">
                  <a:moveTo>
                    <a:pt x="84541" y="0"/>
                  </a:moveTo>
                  <a:lnTo>
                    <a:pt x="707975" y="0"/>
                  </a:lnTo>
                  <a:cubicBezTo>
                    <a:pt x="730397" y="0"/>
                    <a:pt x="751900" y="8907"/>
                    <a:pt x="767755" y="24762"/>
                  </a:cubicBezTo>
                  <a:cubicBezTo>
                    <a:pt x="783609" y="40616"/>
                    <a:pt x="792516" y="62120"/>
                    <a:pt x="792516" y="84541"/>
                  </a:cubicBezTo>
                  <a:lnTo>
                    <a:pt x="792516" y="84541"/>
                  </a:lnTo>
                  <a:cubicBezTo>
                    <a:pt x="792516" y="106963"/>
                    <a:pt x="783609" y="128467"/>
                    <a:pt x="767755" y="144321"/>
                  </a:cubicBezTo>
                  <a:cubicBezTo>
                    <a:pt x="751900" y="160176"/>
                    <a:pt x="730397" y="169083"/>
                    <a:pt x="70797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792516" cy="1976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13002366" y="-47625"/>
            <a:ext cx="5063940" cy="1941386"/>
          </a:xfrm>
          <a:custGeom>
            <a:avLst/>
            <a:gdLst/>
            <a:ahLst/>
            <a:cxnLst/>
            <a:rect r="r" b="b" t="t" l="l"/>
            <a:pathLst>
              <a:path h="1941386" w="5063940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8316142" y="9882546"/>
            <a:ext cx="1743273" cy="264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7514703" y="-217781"/>
            <a:ext cx="2134862" cy="2130592"/>
          </a:xfrm>
          <a:custGeom>
            <a:avLst/>
            <a:gdLst/>
            <a:ahLst/>
            <a:cxnLst/>
            <a:rect r="r" b="b" t="t" l="l"/>
            <a:pathLst>
              <a:path h="2130592" w="213486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6525717" y="8546310"/>
            <a:ext cx="1467166" cy="1525339"/>
            <a:chOff x="0" y="0"/>
            <a:chExt cx="3890124" cy="404436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890137" cy="4044315"/>
            </a:xfrm>
            <a:custGeom>
              <a:avLst/>
              <a:gdLst/>
              <a:ahLst/>
              <a:cxnLst/>
              <a:rect r="r" b="b" t="t" l="l"/>
              <a:pathLst>
                <a:path h="4044315" w="3890137">
                  <a:moveTo>
                    <a:pt x="0" y="0"/>
                  </a:moveTo>
                  <a:lnTo>
                    <a:pt x="3890137" y="0"/>
                  </a:lnTo>
                  <a:lnTo>
                    <a:pt x="3890137" y="4044315"/>
                  </a:lnTo>
                  <a:lnTo>
                    <a:pt x="0" y="4044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-1"/>
              </a:stretch>
            </a:blip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7969539" y="1887412"/>
            <a:ext cx="1492806" cy="530861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4339"/>
              </a:lnSpc>
              <a:spcBef>
                <a:spcPct val="0"/>
              </a:spcBef>
            </a:pPr>
            <a:r>
              <a:rPr lang="en-US" sz="30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Problem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88720" y="2971800"/>
            <a:ext cx="14356080" cy="566928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4339"/>
              </a:lnSpc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Quantum time is rented over the cloud,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often through resellers and marketplaces, and billed per second of QPU time.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Customers only get back bitstrings.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There is no way to check that the job actually ran on quantum hardware.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IBM publishes every device's calibration daily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(gate and readout error rates). Anyone can build a realistic noisy simulator from it.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The attack: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a dishonest provider runs small jobs on a laptop simulator built from that public data, returns believably noisy results, and still bills for QPU time.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264376" y="407706"/>
            <a:ext cx="3092172" cy="1030724"/>
          </a:xfrm>
          <a:custGeom>
            <a:avLst/>
            <a:gdLst/>
            <a:ahLst/>
            <a:cxnLst/>
            <a:rect r="r" b="b" t="t" l="l"/>
            <a:pathLst>
              <a:path h="1030724" w="3092172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0E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97105" y="2516808"/>
            <a:ext cx="2625805" cy="830953"/>
            <a:chOff x="0" y="0"/>
            <a:chExt cx="5816600" cy="18407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2928206" y="9780631"/>
            <a:ext cx="2625805" cy="830953"/>
            <a:chOff x="0" y="0"/>
            <a:chExt cx="5816600" cy="18407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3367623" y="9656173"/>
            <a:ext cx="2625805" cy="830953"/>
            <a:chOff x="0" y="0"/>
            <a:chExt cx="5816600" cy="18407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7990242" y="9984655"/>
            <a:ext cx="173987" cy="173987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353346" y="9948585"/>
            <a:ext cx="173987" cy="17398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93915" y="1893761"/>
            <a:ext cx="3272797" cy="641986"/>
            <a:chOff x="0" y="0"/>
            <a:chExt cx="861971" cy="16908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1971" cy="169083"/>
            </a:xfrm>
            <a:custGeom>
              <a:avLst/>
              <a:gdLst/>
              <a:ahLst/>
              <a:cxnLst/>
              <a:rect r="r" b="b" t="t" l="l"/>
              <a:pathLst>
                <a:path h="169083" w="861971">
                  <a:moveTo>
                    <a:pt x="84541" y="0"/>
                  </a:moveTo>
                  <a:lnTo>
                    <a:pt x="777430" y="0"/>
                  </a:lnTo>
                  <a:cubicBezTo>
                    <a:pt x="799852" y="0"/>
                    <a:pt x="821355" y="8907"/>
                    <a:pt x="837210" y="24762"/>
                  </a:cubicBezTo>
                  <a:cubicBezTo>
                    <a:pt x="853064" y="40616"/>
                    <a:pt x="861971" y="62120"/>
                    <a:pt x="861971" y="84541"/>
                  </a:cubicBezTo>
                  <a:lnTo>
                    <a:pt x="861971" y="84541"/>
                  </a:lnTo>
                  <a:cubicBezTo>
                    <a:pt x="861971" y="106963"/>
                    <a:pt x="853064" y="128467"/>
                    <a:pt x="837210" y="144321"/>
                  </a:cubicBezTo>
                  <a:cubicBezTo>
                    <a:pt x="821355" y="160176"/>
                    <a:pt x="799852" y="169083"/>
                    <a:pt x="777430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1971" cy="1976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13002366" y="-47625"/>
            <a:ext cx="5063940" cy="1941386"/>
          </a:xfrm>
          <a:custGeom>
            <a:avLst/>
            <a:gdLst/>
            <a:ahLst/>
            <a:cxnLst/>
            <a:rect r="r" b="b" t="t" l="l"/>
            <a:pathLst>
              <a:path h="1941386" w="5063940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8316142" y="9882546"/>
            <a:ext cx="1743273" cy="264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7514703" y="-217781"/>
            <a:ext cx="2134862" cy="2130592"/>
          </a:xfrm>
          <a:custGeom>
            <a:avLst/>
            <a:gdLst/>
            <a:ahLst/>
            <a:cxnLst/>
            <a:rect r="r" b="b" t="t" l="l"/>
            <a:pathLst>
              <a:path h="2130592" w="213486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6200432" y="8538631"/>
            <a:ext cx="1365659" cy="1173861"/>
            <a:chOff x="0" y="0"/>
            <a:chExt cx="4028567" cy="346278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028567" cy="3462782"/>
            </a:xfrm>
            <a:custGeom>
              <a:avLst/>
              <a:gdLst/>
              <a:ahLst/>
              <a:cxnLst/>
              <a:rect r="r" b="b" t="t" l="l"/>
              <a:pathLst>
                <a:path h="3462782" w="4028567">
                  <a:moveTo>
                    <a:pt x="0" y="0"/>
                  </a:moveTo>
                  <a:lnTo>
                    <a:pt x="4028567" y="0"/>
                  </a:lnTo>
                  <a:lnTo>
                    <a:pt x="4028567" y="3462782"/>
                  </a:lnTo>
                  <a:lnTo>
                    <a:pt x="0" y="346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7514703" y="1944244"/>
            <a:ext cx="2266474" cy="455296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6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Why It Matters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88720" y="2971800"/>
            <a:ext cx="14356080" cy="566928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Who is affected: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researchers, startups and students paying for QPU time or spending limited free credits.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Silent corruption: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faked results poison benchmarks, papers and error-mitigation studies, and nobody notices.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Trust in the execution layer is a security problem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as quantum access moves to resellers and multi-vendor marketplaces.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The gap: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prior device-fingerprinting work (2025) argues forgery is hard, but only for circuits too large to simulate, and never tests a real forger. Small, simulable jobs, common today, are unprotected.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264376" y="407706"/>
            <a:ext cx="3092172" cy="1030724"/>
          </a:xfrm>
          <a:custGeom>
            <a:avLst/>
            <a:gdLst/>
            <a:ahLst/>
            <a:cxnLst/>
            <a:rect r="r" b="b" t="t" l="l"/>
            <a:pathLst>
              <a:path h="1030724" w="3092172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B48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97105" y="2516808"/>
            <a:ext cx="2625805" cy="830953"/>
            <a:chOff x="0" y="0"/>
            <a:chExt cx="5816600" cy="18407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2928206" y="9780631"/>
            <a:ext cx="2625805" cy="830953"/>
            <a:chOff x="0" y="0"/>
            <a:chExt cx="5816600" cy="18407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3367623" y="9656173"/>
            <a:ext cx="2625805" cy="830953"/>
            <a:chOff x="0" y="0"/>
            <a:chExt cx="5816600" cy="18407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7990242" y="9984655"/>
            <a:ext cx="173987" cy="173987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353346" y="9948585"/>
            <a:ext cx="173987" cy="17398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871046" y="1893761"/>
            <a:ext cx="4012244" cy="641986"/>
            <a:chOff x="0" y="0"/>
            <a:chExt cx="1056723" cy="16908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56723" cy="169083"/>
            </a:xfrm>
            <a:custGeom>
              <a:avLst/>
              <a:gdLst/>
              <a:ahLst/>
              <a:cxnLst/>
              <a:rect r="r" b="b" t="t" l="l"/>
              <a:pathLst>
                <a:path h="169083" w="1056723">
                  <a:moveTo>
                    <a:pt x="84541" y="0"/>
                  </a:moveTo>
                  <a:lnTo>
                    <a:pt x="972181" y="0"/>
                  </a:lnTo>
                  <a:cubicBezTo>
                    <a:pt x="994603" y="0"/>
                    <a:pt x="1016106" y="8907"/>
                    <a:pt x="1031961" y="24762"/>
                  </a:cubicBezTo>
                  <a:cubicBezTo>
                    <a:pt x="1047816" y="40616"/>
                    <a:pt x="1056723" y="62120"/>
                    <a:pt x="1056723" y="84541"/>
                  </a:cubicBezTo>
                  <a:lnTo>
                    <a:pt x="1056723" y="84541"/>
                  </a:lnTo>
                  <a:cubicBezTo>
                    <a:pt x="1056723" y="106963"/>
                    <a:pt x="1047816" y="128467"/>
                    <a:pt x="1031961" y="144321"/>
                  </a:cubicBezTo>
                  <a:cubicBezTo>
                    <a:pt x="1016106" y="160176"/>
                    <a:pt x="994603" y="169083"/>
                    <a:pt x="972181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1056723" cy="1976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13002366" y="-47625"/>
            <a:ext cx="5063940" cy="1941386"/>
          </a:xfrm>
          <a:custGeom>
            <a:avLst/>
            <a:gdLst/>
            <a:ahLst/>
            <a:cxnLst/>
            <a:rect r="r" b="b" t="t" l="l"/>
            <a:pathLst>
              <a:path h="1941386" w="5063940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8316142" y="9882546"/>
            <a:ext cx="1743273" cy="264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7638528" y="-208256"/>
            <a:ext cx="2134862" cy="2130592"/>
          </a:xfrm>
          <a:custGeom>
            <a:avLst/>
            <a:gdLst/>
            <a:ahLst/>
            <a:cxnLst/>
            <a:rect r="r" b="b" t="t" l="l"/>
            <a:pathLst>
              <a:path h="2130592" w="213486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6388711" y="8987334"/>
            <a:ext cx="1677594" cy="1065265"/>
            <a:chOff x="0" y="0"/>
            <a:chExt cx="4028567" cy="255812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028567" cy="2558161"/>
            </a:xfrm>
            <a:custGeom>
              <a:avLst/>
              <a:gdLst/>
              <a:ahLst/>
              <a:cxnLst/>
              <a:rect r="r" b="b" t="t" l="l"/>
              <a:pathLst>
                <a:path h="2558161" w="4028567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1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6564806" y="3523271"/>
            <a:ext cx="2625805" cy="830953"/>
            <a:chOff x="0" y="0"/>
            <a:chExt cx="5816600" cy="18407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7326063" y="1937259"/>
            <a:ext cx="3027283" cy="497841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Proposed Solution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88720" y="2834640"/>
            <a:ext cx="14356080" cy="566928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  <a:spcAft>
                <a:spcPts val="1430"/>
              </a:spcAft>
            </a:pPr>
            <a:r>
              <a:rPr sz="2800" b="1">
                <a:solidFill>
                  <a:srgbClr val="FF3131"/>
                </a:solidFill>
                <a:latin typeface="IBM Plex Sans"/>
              </a:rPr>
              <a:t>GhostQPU: proof that your quantum job really ran on a quantum computer.</a:t>
            </a:r>
          </a:p>
          <a:p>
            <a:pPr algn="l">
              <a:spcAft>
                <a:spcPts val="1430"/>
              </a:spcAft>
            </a:pPr>
            <a:r>
              <a:rPr sz="156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>
                <a:solidFill>
                  <a:srgbClr val="000000"/>
                </a:solidFill>
                <a:latin typeface="IBM Plex Sans"/>
              </a:rPr>
              <a:t>Hidden canaries: </a:t>
            </a:r>
            <a:r>
              <a:rPr sz="2600" b="0">
                <a:solidFill>
                  <a:srgbClr val="000000"/>
                </a:solidFill>
                <a:latin typeface="IBM Plex Sans"/>
              </a:rPr>
              <a:t>we mix 30 small test circuits in with the customer's workload. The provider can't tell which circuits are tests.</a:t>
            </a:r>
          </a:p>
          <a:p>
            <a:pPr algn="l">
              <a:spcAft>
                <a:spcPts val="1430"/>
              </a:spcAft>
            </a:pPr>
            <a:r>
              <a:rPr sz="156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>
                <a:solidFill>
                  <a:srgbClr val="000000"/>
                </a:solidFill>
                <a:latin typeface="IBM Plex Sans"/>
              </a:rPr>
              <a:t>Physics a simulator leaves out: </a:t>
            </a:r>
            <a:r>
              <a:rPr sz="2600" b="0">
                <a:solidFill>
                  <a:srgbClr val="000000"/>
                </a:solidFill>
                <a:latin typeface="IBM Plex Sans"/>
              </a:rPr>
              <a:t>canaries trigger coherent error build-up, neighbor crosstalk, context-dependent readout and drift.</a:t>
            </a:r>
          </a:p>
          <a:p>
            <a:pPr algn="l">
              <a:spcAft>
                <a:spcPts val="1430"/>
              </a:spcAft>
            </a:pPr>
            <a:r>
              <a:rPr sz="156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>
                <a:solidFill>
                  <a:srgbClr val="000000"/>
                </a:solidFill>
                <a:latin typeface="IBM Plex Sans"/>
              </a:rPr>
              <a:t>Detector: </a:t>
            </a:r>
            <a:r>
              <a:rPr sz="2600" b="0">
                <a:solidFill>
                  <a:srgbClr val="000000"/>
                </a:solidFill>
                <a:latin typeface="IBM Plex Sans"/>
              </a:rPr>
              <a:t>turns the canary results into a verdict (Genuine, Forged or Inconclusive) with a score.</a:t>
            </a:r>
          </a:p>
          <a:p>
            <a:pPr algn="l">
              <a:spcAft>
                <a:spcPts val="1430"/>
              </a:spcAft>
            </a:pPr>
            <a:r>
              <a:rPr sz="156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>
                <a:solidFill>
                  <a:srgbClr val="000000"/>
                </a:solidFill>
                <a:latin typeface="IBM Plex Sans"/>
              </a:rPr>
              <a:t>We built the attacker too: </a:t>
            </a:r>
            <a:r>
              <a:rPr sz="2600" b="0">
                <a:solidFill>
                  <a:srgbClr val="000000"/>
                </a:solidFill>
                <a:latin typeface="IBM Plex Sans"/>
              </a:rPr>
              <a:t>a Forger that uses the exact public calibration live when the job ran, the best data any cheater could get.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264376" y="407706"/>
            <a:ext cx="3092172" cy="1030724"/>
          </a:xfrm>
          <a:custGeom>
            <a:avLst/>
            <a:gdLst/>
            <a:ahLst/>
            <a:cxnLst/>
            <a:rect r="r" b="b" t="t" l="l"/>
            <a:pathLst>
              <a:path h="1030724" w="3092172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0E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97105" y="2516808"/>
            <a:ext cx="2625805" cy="830953"/>
            <a:chOff x="0" y="0"/>
            <a:chExt cx="5816600" cy="18407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2928206" y="9780631"/>
            <a:ext cx="2625805" cy="830953"/>
            <a:chOff x="0" y="0"/>
            <a:chExt cx="5816600" cy="18407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3367623" y="9656173"/>
            <a:ext cx="2625805" cy="830953"/>
            <a:chOff x="0" y="0"/>
            <a:chExt cx="5816600" cy="18407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7990242" y="9984655"/>
            <a:ext cx="173987" cy="173987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353346" y="9948585"/>
            <a:ext cx="173987" cy="17398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06921" y="1893761"/>
            <a:ext cx="3533419" cy="641986"/>
            <a:chOff x="0" y="0"/>
            <a:chExt cx="930612" cy="16908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30612" cy="169083"/>
            </a:xfrm>
            <a:custGeom>
              <a:avLst/>
              <a:gdLst/>
              <a:ahLst/>
              <a:cxnLst/>
              <a:rect r="r" b="b" t="t" l="l"/>
              <a:pathLst>
                <a:path h="169083" w="930612">
                  <a:moveTo>
                    <a:pt x="84541" y="0"/>
                  </a:moveTo>
                  <a:lnTo>
                    <a:pt x="846071" y="0"/>
                  </a:lnTo>
                  <a:cubicBezTo>
                    <a:pt x="868493" y="0"/>
                    <a:pt x="889996" y="8907"/>
                    <a:pt x="905851" y="24762"/>
                  </a:cubicBezTo>
                  <a:cubicBezTo>
                    <a:pt x="921705" y="40616"/>
                    <a:pt x="930612" y="62120"/>
                    <a:pt x="930612" y="84541"/>
                  </a:cubicBezTo>
                  <a:lnTo>
                    <a:pt x="930612" y="84541"/>
                  </a:lnTo>
                  <a:cubicBezTo>
                    <a:pt x="930612" y="106963"/>
                    <a:pt x="921705" y="128467"/>
                    <a:pt x="905851" y="144321"/>
                  </a:cubicBezTo>
                  <a:cubicBezTo>
                    <a:pt x="889996" y="160176"/>
                    <a:pt x="868493" y="169083"/>
                    <a:pt x="846071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930612" cy="1976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13135716" y="-28575"/>
            <a:ext cx="5063940" cy="1941386"/>
          </a:xfrm>
          <a:custGeom>
            <a:avLst/>
            <a:gdLst/>
            <a:ahLst/>
            <a:cxnLst/>
            <a:rect r="r" b="b" t="t" l="l"/>
            <a:pathLst>
              <a:path h="1941386" w="5063940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8316142" y="9882546"/>
            <a:ext cx="1743273" cy="264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7514703" y="-217781"/>
            <a:ext cx="2134862" cy="2130592"/>
          </a:xfrm>
          <a:custGeom>
            <a:avLst/>
            <a:gdLst/>
            <a:ahLst/>
            <a:cxnLst/>
            <a:rect r="r" b="b" t="t" l="l"/>
            <a:pathLst>
              <a:path h="2130592" w="213486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6525717" y="8546310"/>
            <a:ext cx="1467166" cy="1525339"/>
            <a:chOff x="0" y="0"/>
            <a:chExt cx="3890124" cy="404436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890137" cy="4044315"/>
            </a:xfrm>
            <a:custGeom>
              <a:avLst/>
              <a:gdLst/>
              <a:ahLst/>
              <a:cxnLst/>
              <a:rect r="r" b="b" t="t" l="l"/>
              <a:pathLst>
                <a:path h="4044315" w="3890137">
                  <a:moveTo>
                    <a:pt x="0" y="0"/>
                  </a:moveTo>
                  <a:lnTo>
                    <a:pt x="3890137" y="0"/>
                  </a:lnTo>
                  <a:lnTo>
                    <a:pt x="3890137" y="4044315"/>
                  </a:lnTo>
                  <a:lnTo>
                    <a:pt x="0" y="4044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-1"/>
              </a:stretch>
            </a:blip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7514703" y="1963294"/>
            <a:ext cx="2342555" cy="455296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6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Why Quantum?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88720" y="2971800"/>
            <a:ext cx="14356080" cy="566928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The evidence is quantum: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the fingerprint is the physical noise of the real chip, which only exists on quantum hardware.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Canaries amplify it: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128 repeated X gates turn tiny coherent over-rotations into a 32% error; Ramsey sequences on an idle qubit reveal ZZ coupling to its neighbor.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Why calibration can't fake it: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published calibration describes each gate on its own with average error rates. Real qubits have coherent, correlated, time-varying noise. That gap is our fingerprint.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Real hardware: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runs on IBM's 156-qubit Heron device ibm_marrakesh through Qiskit Runtime, on the free plan.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264376" y="407706"/>
            <a:ext cx="3092172" cy="1030724"/>
          </a:xfrm>
          <a:custGeom>
            <a:avLst/>
            <a:gdLst/>
            <a:ahLst/>
            <a:cxnLst/>
            <a:rect r="r" b="b" t="t" l="l"/>
            <a:pathLst>
              <a:path h="1030724" w="3092172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0E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97105" y="2516808"/>
            <a:ext cx="2625805" cy="830953"/>
            <a:chOff x="0" y="0"/>
            <a:chExt cx="5816600" cy="18407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2928206" y="9780631"/>
            <a:ext cx="2625805" cy="830953"/>
            <a:chOff x="0" y="0"/>
            <a:chExt cx="5816600" cy="18407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3367623" y="9656173"/>
            <a:ext cx="2625805" cy="830953"/>
            <a:chOff x="0" y="0"/>
            <a:chExt cx="5816600" cy="18407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7990242" y="9984655"/>
            <a:ext cx="173987" cy="173987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353346" y="9948585"/>
            <a:ext cx="173987" cy="17398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5797750" y="1893761"/>
            <a:ext cx="5382396" cy="641986"/>
            <a:chOff x="0" y="0"/>
            <a:chExt cx="1417586" cy="16908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17586" cy="169083"/>
            </a:xfrm>
            <a:custGeom>
              <a:avLst/>
              <a:gdLst/>
              <a:ahLst/>
              <a:cxnLst/>
              <a:rect r="r" b="b" t="t" l="l"/>
              <a:pathLst>
                <a:path h="169083" w="1417586">
                  <a:moveTo>
                    <a:pt x="84541" y="0"/>
                  </a:moveTo>
                  <a:lnTo>
                    <a:pt x="1333045" y="0"/>
                  </a:lnTo>
                  <a:cubicBezTo>
                    <a:pt x="1355466" y="0"/>
                    <a:pt x="1376970" y="8907"/>
                    <a:pt x="1392824" y="24762"/>
                  </a:cubicBezTo>
                  <a:cubicBezTo>
                    <a:pt x="1408679" y="40616"/>
                    <a:pt x="1417586" y="62120"/>
                    <a:pt x="1417586" y="84541"/>
                  </a:cubicBezTo>
                  <a:lnTo>
                    <a:pt x="1417586" y="84541"/>
                  </a:lnTo>
                  <a:cubicBezTo>
                    <a:pt x="1417586" y="106963"/>
                    <a:pt x="1408679" y="128467"/>
                    <a:pt x="1392824" y="144321"/>
                  </a:cubicBezTo>
                  <a:cubicBezTo>
                    <a:pt x="1376970" y="160176"/>
                    <a:pt x="1355466" y="169083"/>
                    <a:pt x="133304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1417586" cy="1976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13002366" y="-47625"/>
            <a:ext cx="5063940" cy="1941386"/>
          </a:xfrm>
          <a:custGeom>
            <a:avLst/>
            <a:gdLst/>
            <a:ahLst/>
            <a:cxnLst/>
            <a:rect r="r" b="b" t="t" l="l"/>
            <a:pathLst>
              <a:path h="1941386" w="5063940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8316142" y="9882546"/>
            <a:ext cx="1743273" cy="264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7514703" y="-217781"/>
            <a:ext cx="2134862" cy="2130592"/>
          </a:xfrm>
          <a:custGeom>
            <a:avLst/>
            <a:gdLst/>
            <a:ahLst/>
            <a:cxnLst/>
            <a:rect r="r" b="b" t="t" l="l"/>
            <a:pathLst>
              <a:path h="2130592" w="213486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6388711" y="8987334"/>
            <a:ext cx="1677594" cy="1065265"/>
            <a:chOff x="0" y="0"/>
            <a:chExt cx="4028567" cy="255812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028567" cy="2558161"/>
            </a:xfrm>
            <a:custGeom>
              <a:avLst/>
              <a:gdLst/>
              <a:ahLst/>
              <a:cxnLst/>
              <a:rect r="r" b="b" t="t" l="l"/>
              <a:pathLst>
                <a:path h="2558161" w="4028567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1"/>
              </a:stretch>
            </a:blip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6298992" y="1988059"/>
            <a:ext cx="4566285" cy="405766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Implementation and Architecture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88720" y="2743200"/>
            <a:ext cx="14356080" cy="566928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Bef>
                <a:spcPct val="0"/>
              </a:spcBef>
              <a:spcAft>
                <a:spcPts val="1210"/>
              </a:spcAft>
            </a:pPr>
            <a:r>
              <a:rPr sz="2400" b="1">
                <a:solidFill>
                  <a:srgbClr val="FF3131"/>
                </a:solidFill>
                <a:latin typeface="IBM Plex Sans"/>
              </a:rPr>
              <a:t>Pipeline</a:t>
            </a:r>
          </a:p>
          <a:p>
            <a:pPr algn="l"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Calibration snapshot  →  Batch builder (canaries + workload, shuffled)  →  IBM QPU (Qiskit Runtime Sampler, twirling and dynamical decoupling off)  →  Collect, plus the calibration live at execution time  →  Forger (Qiskit Aer + noise model from that calibration)  →  Signature (12 features per time chunk)  →  Detector  →  Verdict + dashboard</a:t>
            </a:r>
          </a:p>
          <a:p>
            <a:pPr algn="l"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Quantum components: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3 canary families (coherent amplification, spectator Ramsey, readout context) on 4 isolated qubit pairs, transpiled at level 0 so they run exactly as written.</a:t>
            </a:r>
          </a:p>
          <a:p>
            <a:pPr algn="l"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Classical components: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Python, Qiskit 2.5, Qiskit Aer, scikit-learn logistic regression, Streamlit + Altair dashboard.</a:t>
            </a:r>
          </a:p>
          <a:p>
            <a:pPr algn="l"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Engineering: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CLI (submit / collect / evaluate / null-test), 24 automated tests, a bit-order parity test between the hardware and simulator paths.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264376" y="407706"/>
            <a:ext cx="3092172" cy="1030724"/>
          </a:xfrm>
          <a:custGeom>
            <a:avLst/>
            <a:gdLst/>
            <a:ahLst/>
            <a:cxnLst/>
            <a:rect r="r" b="b" t="t" l="l"/>
            <a:pathLst>
              <a:path h="1030724" w="3092172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0E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97105" y="2516808"/>
            <a:ext cx="2625805" cy="830953"/>
            <a:chOff x="0" y="0"/>
            <a:chExt cx="5816600" cy="18407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2928206" y="9780631"/>
            <a:ext cx="2625805" cy="830953"/>
            <a:chOff x="0" y="0"/>
            <a:chExt cx="5816600" cy="18407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3367623" y="9656173"/>
            <a:ext cx="2625805" cy="830953"/>
            <a:chOff x="0" y="0"/>
            <a:chExt cx="5816600" cy="18407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7990242" y="9984655"/>
            <a:ext cx="173987" cy="173987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353346" y="9948585"/>
            <a:ext cx="173987" cy="17398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868821" y="1903286"/>
            <a:ext cx="3925250" cy="641986"/>
            <a:chOff x="0" y="0"/>
            <a:chExt cx="1033811" cy="16908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33811" cy="169083"/>
            </a:xfrm>
            <a:custGeom>
              <a:avLst/>
              <a:gdLst/>
              <a:ahLst/>
              <a:cxnLst/>
              <a:rect r="r" b="b" t="t" l="l"/>
              <a:pathLst>
                <a:path h="169083" w="1033811">
                  <a:moveTo>
                    <a:pt x="84541" y="0"/>
                  </a:moveTo>
                  <a:lnTo>
                    <a:pt x="949269" y="0"/>
                  </a:lnTo>
                  <a:cubicBezTo>
                    <a:pt x="971691" y="0"/>
                    <a:pt x="993195" y="8907"/>
                    <a:pt x="1009049" y="24762"/>
                  </a:cubicBezTo>
                  <a:cubicBezTo>
                    <a:pt x="1024904" y="40616"/>
                    <a:pt x="1033811" y="62120"/>
                    <a:pt x="1033811" y="84541"/>
                  </a:cubicBezTo>
                  <a:lnTo>
                    <a:pt x="1033811" y="84541"/>
                  </a:lnTo>
                  <a:cubicBezTo>
                    <a:pt x="1033811" y="106963"/>
                    <a:pt x="1024904" y="128467"/>
                    <a:pt x="1009049" y="144321"/>
                  </a:cubicBezTo>
                  <a:cubicBezTo>
                    <a:pt x="993195" y="160176"/>
                    <a:pt x="971691" y="169083"/>
                    <a:pt x="949269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1033811" cy="1976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13002366" y="-47625"/>
            <a:ext cx="5063940" cy="1941386"/>
          </a:xfrm>
          <a:custGeom>
            <a:avLst/>
            <a:gdLst/>
            <a:ahLst/>
            <a:cxnLst/>
            <a:rect r="r" b="b" t="t" l="l"/>
            <a:pathLst>
              <a:path h="1941386" w="5063940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8316142" y="9882546"/>
            <a:ext cx="1743273" cy="264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7514703" y="-217781"/>
            <a:ext cx="2134862" cy="2130592"/>
          </a:xfrm>
          <a:custGeom>
            <a:avLst/>
            <a:gdLst/>
            <a:ahLst/>
            <a:cxnLst/>
            <a:rect r="r" b="b" t="t" l="l"/>
            <a:pathLst>
              <a:path h="2130592" w="213486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6388711" y="8987334"/>
            <a:ext cx="1677594" cy="1065265"/>
            <a:chOff x="0" y="0"/>
            <a:chExt cx="4028567" cy="255812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028567" cy="2558161"/>
            </a:xfrm>
            <a:custGeom>
              <a:avLst/>
              <a:gdLst/>
              <a:ahLst/>
              <a:cxnLst/>
              <a:rect r="r" b="b" t="t" l="l"/>
              <a:pathLst>
                <a:path h="2558161" w="4028567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1"/>
              </a:stretch>
            </a:blip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7362389" y="1945514"/>
            <a:ext cx="2915245" cy="481331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Minimal Prototype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88720" y="2834640"/>
            <a:ext cx="14356080" cy="566928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56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>
                <a:solidFill>
                  <a:srgbClr val="000000"/>
                </a:solidFill>
                <a:latin typeface="IBM Plex Sans"/>
              </a:rPr>
              <a:t>Working end-to-end tool </a:t>
            </a:r>
            <a:r>
              <a:rPr sz="2600" b="0">
                <a:solidFill>
                  <a:srgbClr val="000000"/>
                </a:solidFill>
                <a:latin typeface="IBM Plex Sans"/>
              </a:rPr>
              <a:t>(GitHub repo): python -m ghostqpu submit / collect / evaluate / null-test.</a:t>
            </a:r>
          </a:p>
          <a:p>
            <a:pPr algn="l">
              <a:spcAft>
                <a:spcPts val="1430"/>
              </a:spcAft>
            </a:pPr>
            <a:r>
              <a:rPr sz="156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>
                <a:solidFill>
                  <a:srgbClr val="000000"/>
                </a:solidFill>
                <a:latin typeface="IBM Plex Sans"/>
              </a:rPr>
              <a:t>Real hardware runs: </a:t>
            </a:r>
            <a:r>
              <a:rPr sz="2600" b="0">
                <a:solidFill>
                  <a:srgbClr val="000000"/>
                </a:solidFill>
                <a:latin typeface="IBM Plex Sans"/>
              </a:rPr>
              <a:t>2 jobs on IBM ibm_marrakesh, 34 circuits x 1000 shots, 11 QPU seconds each, each with a forged twin.</a:t>
            </a:r>
          </a:p>
          <a:p>
            <a:pPr algn="l">
              <a:spcAft>
                <a:spcPts val="1430"/>
              </a:spcAft>
            </a:pPr>
            <a:r>
              <a:rPr sz="156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>
                <a:solidFill>
                  <a:srgbClr val="000000"/>
                </a:solidFill>
                <a:latin typeface="IBM Plex Sans"/>
              </a:rPr>
              <a:t>Dashboard, Verify a job: </a:t>
            </a:r>
            <a:r>
              <a:rPr sz="2600" b="0">
                <a:solidFill>
                  <a:srgbClr val="000000"/>
                </a:solidFill>
                <a:latin typeface="IBM Plex Sans"/>
              </a:rPr>
              <a:t>pick an anonymous job, get a blind verdict, then reveal the truth.</a:t>
            </a:r>
          </a:p>
          <a:p>
            <a:pPr algn="l">
              <a:spcAft>
                <a:spcPts val="1430"/>
              </a:spcAft>
            </a:pPr>
            <a:r>
              <a:rPr sz="156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>
                <a:solidFill>
                  <a:srgbClr val="000000"/>
                </a:solidFill>
                <a:latin typeface="IBM Plex Sans"/>
              </a:rPr>
              <a:t>Dashboard, Evidence: </a:t>
            </a:r>
            <a:r>
              <a:rPr sz="2600" b="0">
                <a:solidFill>
                  <a:srgbClr val="000000"/>
                </a:solidFill>
                <a:latin typeface="IBM Plex Sans"/>
              </a:rPr>
              <a:t>real vs forged canary curves for the same circuits and calibration.</a:t>
            </a:r>
          </a:p>
          <a:p>
            <a:pPr algn="l">
              <a:spcAft>
                <a:spcPts val="1430"/>
              </a:spcAft>
            </a:pPr>
            <a:r>
              <a:rPr sz="156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>
                <a:solidFill>
                  <a:srgbClr val="000000"/>
                </a:solidFill>
                <a:latin typeface="IBM Plex Sans"/>
              </a:rPr>
              <a:t>Dashboard, Detector: </a:t>
            </a:r>
            <a:r>
              <a:rPr sz="2600" b="0">
                <a:solidFill>
                  <a:srgbClr val="000000"/>
                </a:solidFill>
                <a:latin typeface="IBM Plex Sans"/>
              </a:rPr>
              <a:t>held-out AUC, accuracy per job and the features driving each decision.</a:t>
            </a:r>
          </a:p>
          <a:p>
            <a:pPr algn="l">
              <a:spcAft>
                <a:spcPts val="1430"/>
              </a:spcAft>
            </a:pPr>
            <a:r>
              <a:rPr sz="156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>
                <a:solidFill>
                  <a:srgbClr val="000000"/>
                </a:solidFill>
                <a:latin typeface="IBM Plex Sans"/>
              </a:rPr>
              <a:t>Extras: </a:t>
            </a:r>
            <a:r>
              <a:rPr sz="2600" b="0">
                <a:solidFill>
                  <a:srgbClr val="000000"/>
                </a:solidFill>
                <a:latin typeface="IBM Plex Sans"/>
              </a:rPr>
              <a:t>demo video and a plain-language explainer PDF for non-specialists.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264376" y="407706"/>
            <a:ext cx="3092172" cy="1030724"/>
          </a:xfrm>
          <a:custGeom>
            <a:avLst/>
            <a:gdLst/>
            <a:ahLst/>
            <a:cxnLst/>
            <a:rect r="r" b="b" t="t" l="l"/>
            <a:pathLst>
              <a:path h="1030724" w="3092172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B48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97105" y="2516808"/>
            <a:ext cx="2625805" cy="830953"/>
            <a:chOff x="0" y="0"/>
            <a:chExt cx="5816600" cy="18407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2928206" y="9780631"/>
            <a:ext cx="2625805" cy="830953"/>
            <a:chOff x="0" y="0"/>
            <a:chExt cx="5816600" cy="18407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3367623" y="9656173"/>
            <a:ext cx="2625805" cy="830953"/>
            <a:chOff x="0" y="0"/>
            <a:chExt cx="5816600" cy="18407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7990242" y="9984655"/>
            <a:ext cx="173987" cy="173987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353346" y="9948585"/>
            <a:ext cx="173987" cy="17398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7045033" y="1893761"/>
            <a:ext cx="3482300" cy="641986"/>
            <a:chOff x="0" y="0"/>
            <a:chExt cx="917149" cy="16908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17149" cy="169083"/>
            </a:xfrm>
            <a:custGeom>
              <a:avLst/>
              <a:gdLst/>
              <a:ahLst/>
              <a:cxnLst/>
              <a:rect r="r" b="b" t="t" l="l"/>
              <a:pathLst>
                <a:path h="169083" w="917149">
                  <a:moveTo>
                    <a:pt x="84541" y="0"/>
                  </a:moveTo>
                  <a:lnTo>
                    <a:pt x="832608" y="0"/>
                  </a:lnTo>
                  <a:cubicBezTo>
                    <a:pt x="855029" y="0"/>
                    <a:pt x="876533" y="8907"/>
                    <a:pt x="892387" y="24762"/>
                  </a:cubicBezTo>
                  <a:cubicBezTo>
                    <a:pt x="908242" y="40616"/>
                    <a:pt x="917149" y="62120"/>
                    <a:pt x="917149" y="84541"/>
                  </a:cubicBezTo>
                  <a:lnTo>
                    <a:pt x="917149" y="84541"/>
                  </a:lnTo>
                  <a:cubicBezTo>
                    <a:pt x="917149" y="106963"/>
                    <a:pt x="908242" y="128467"/>
                    <a:pt x="892387" y="144321"/>
                  </a:cubicBezTo>
                  <a:cubicBezTo>
                    <a:pt x="876533" y="160176"/>
                    <a:pt x="855029" y="169083"/>
                    <a:pt x="832608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917149" cy="1976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13002366" y="-47625"/>
            <a:ext cx="5063940" cy="1941386"/>
          </a:xfrm>
          <a:custGeom>
            <a:avLst/>
            <a:gdLst/>
            <a:ahLst/>
            <a:cxnLst/>
            <a:rect r="r" b="b" t="t" l="l"/>
            <a:pathLst>
              <a:path h="1941386" w="5063940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8316142" y="9882546"/>
            <a:ext cx="1743273" cy="264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7590903" y="-208256"/>
            <a:ext cx="2134862" cy="2130592"/>
          </a:xfrm>
          <a:custGeom>
            <a:avLst/>
            <a:gdLst/>
            <a:ahLst/>
            <a:cxnLst/>
            <a:rect r="r" b="b" t="t" l="l"/>
            <a:pathLst>
              <a:path h="2130592" w="213486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6388711" y="8987334"/>
            <a:ext cx="1677594" cy="1065265"/>
            <a:chOff x="0" y="0"/>
            <a:chExt cx="4028567" cy="255812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028567" cy="2558161"/>
            </a:xfrm>
            <a:custGeom>
              <a:avLst/>
              <a:gdLst/>
              <a:ahLst/>
              <a:cxnLst/>
              <a:rect r="r" b="b" t="t" l="l"/>
              <a:pathLst>
                <a:path h="2558161" w="4028567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1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6564806" y="3523271"/>
            <a:ext cx="2625805" cy="830953"/>
            <a:chOff x="0" y="0"/>
            <a:chExt cx="5816600" cy="18407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7550865" y="1969009"/>
            <a:ext cx="2641044" cy="405766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Results / Validation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88720" y="5852160"/>
            <a:ext cx="14356080" cy="329184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Detector, each job held out from training: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AUC 1.00, 4 of 4 jobs correct. Genuine jobs scored 0.02 and 0.06, forged 0.96 and 0.98.</a:t>
            </a:r>
          </a:p>
          <a:p>
            <a:pPr algn="l"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Null test (simulator vs Forger):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AUC 0.40, near chance, so it detects physics, not a formatting artifact.</a:t>
            </a:r>
          </a:p>
          <a:p>
            <a:pPr algn="l"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Cost: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11 QPU seconds per check on IBM's free plan.</a:t>
            </a:r>
          </a:p>
          <a:p>
            <a:pPr algn="l"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Limitation: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both real jobs come from one calibration cycle; cross-day results are next.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264376" y="407706"/>
            <a:ext cx="3092172" cy="1030724"/>
          </a:xfrm>
          <a:custGeom>
            <a:avLst/>
            <a:gdLst/>
            <a:ahLst/>
            <a:cxnLst/>
            <a:rect r="r" b="b" t="t" l="l"/>
            <a:pathLst>
              <a:path h="1030724" w="3092172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188720" y="2880360"/>
          <a:ext cx="143560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06640"/>
                <a:gridCol w="3474720"/>
                <a:gridCol w="3474720"/>
              </a:tblGrid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Canary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Real hardware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Forger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Error after 128 X gates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32%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4%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Idle-qubit shift from neighbor (16 us)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7.8%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0.4%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Readout error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1.1 to 1.4%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0.3 to 0.5%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0E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97105" y="2516808"/>
            <a:ext cx="2625805" cy="830953"/>
            <a:chOff x="0" y="0"/>
            <a:chExt cx="5816600" cy="18407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2928206" y="9780631"/>
            <a:ext cx="2625805" cy="830953"/>
            <a:chOff x="0" y="0"/>
            <a:chExt cx="5816600" cy="18407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3367623" y="9656173"/>
            <a:ext cx="2625805" cy="830953"/>
            <a:chOff x="0" y="0"/>
            <a:chExt cx="5816600" cy="18407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7990242" y="9984655"/>
            <a:ext cx="173987" cy="173987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353346" y="9948585"/>
            <a:ext cx="173987" cy="17398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7798248" y="1922336"/>
            <a:ext cx="2642092" cy="641986"/>
            <a:chOff x="0" y="0"/>
            <a:chExt cx="695860" cy="16908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95860" cy="169083"/>
            </a:xfrm>
            <a:custGeom>
              <a:avLst/>
              <a:gdLst/>
              <a:ahLst/>
              <a:cxnLst/>
              <a:rect r="r" b="b" t="t" l="l"/>
              <a:pathLst>
                <a:path h="169083" w="695860">
                  <a:moveTo>
                    <a:pt x="84541" y="0"/>
                  </a:moveTo>
                  <a:lnTo>
                    <a:pt x="611318" y="0"/>
                  </a:lnTo>
                  <a:cubicBezTo>
                    <a:pt x="633740" y="0"/>
                    <a:pt x="655243" y="8907"/>
                    <a:pt x="671098" y="24762"/>
                  </a:cubicBezTo>
                  <a:cubicBezTo>
                    <a:pt x="686953" y="40616"/>
                    <a:pt x="695860" y="62120"/>
                    <a:pt x="695860" y="84541"/>
                  </a:cubicBezTo>
                  <a:lnTo>
                    <a:pt x="695860" y="84541"/>
                  </a:lnTo>
                  <a:cubicBezTo>
                    <a:pt x="695860" y="106963"/>
                    <a:pt x="686953" y="128467"/>
                    <a:pt x="671098" y="144321"/>
                  </a:cubicBezTo>
                  <a:cubicBezTo>
                    <a:pt x="655243" y="160176"/>
                    <a:pt x="633740" y="169083"/>
                    <a:pt x="611318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695860" cy="1976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13002366" y="-47625"/>
            <a:ext cx="5063940" cy="1941386"/>
          </a:xfrm>
          <a:custGeom>
            <a:avLst/>
            <a:gdLst/>
            <a:ahLst/>
            <a:cxnLst/>
            <a:rect r="r" b="b" t="t" l="l"/>
            <a:pathLst>
              <a:path h="1941386" w="5063940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8316142" y="9882546"/>
            <a:ext cx="1743273" cy="264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7990242" y="-236831"/>
            <a:ext cx="2134862" cy="2130592"/>
          </a:xfrm>
          <a:custGeom>
            <a:avLst/>
            <a:gdLst/>
            <a:ahLst/>
            <a:cxnLst/>
            <a:rect r="r" b="b" t="t" l="l"/>
            <a:pathLst>
              <a:path h="2130592" w="213486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6200432" y="8538631"/>
            <a:ext cx="1365659" cy="1173861"/>
            <a:chOff x="0" y="0"/>
            <a:chExt cx="4028567" cy="346278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028567" cy="3462782"/>
            </a:xfrm>
            <a:custGeom>
              <a:avLst/>
              <a:gdLst/>
              <a:ahLst/>
              <a:cxnLst/>
              <a:rect r="r" b="b" t="t" l="l"/>
              <a:pathLst>
                <a:path h="3462782" w="4028567">
                  <a:moveTo>
                    <a:pt x="0" y="0"/>
                  </a:moveTo>
                  <a:lnTo>
                    <a:pt x="4028567" y="0"/>
                  </a:lnTo>
                  <a:lnTo>
                    <a:pt x="4028567" y="3462782"/>
                  </a:lnTo>
                  <a:lnTo>
                    <a:pt x="0" y="346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8499623" y="1988059"/>
            <a:ext cx="1306116" cy="405766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Roadmap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88720" y="2971800"/>
            <a:ext cx="14356080" cy="566928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Cross-day validation: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runs across several calibration cycles and backends (ibm_fez, ibm_kingston), holding out whole days.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Canary-aware forger: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an attacker that knows canaries exist and injects extra noise; measure what it costs them to evade.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Lower overhead: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find the fewest canaries and shots that still give a confident verdict.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Customer SDK: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a drop-in wrapper that injects canaries into every job and returns a signed verification report.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More providers: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extend to other cloud QPUs that publish calibration data.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264376" y="407706"/>
            <a:ext cx="3092172" cy="1030724"/>
          </a:xfrm>
          <a:custGeom>
            <a:avLst/>
            <a:gdLst/>
            <a:ahLst/>
            <a:cxnLst/>
            <a:rect r="r" b="b" t="t" l="l"/>
            <a:pathLst>
              <a:path h="1030724" w="3092172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B48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597105" y="2516808"/>
            <a:ext cx="2625805" cy="830953"/>
            <a:chOff x="0" y="0"/>
            <a:chExt cx="5816600" cy="18407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2928206" y="9780631"/>
            <a:ext cx="2625805" cy="830953"/>
            <a:chOff x="0" y="0"/>
            <a:chExt cx="5816600" cy="18407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3367623" y="9656173"/>
            <a:ext cx="2625805" cy="830953"/>
            <a:chOff x="0" y="0"/>
            <a:chExt cx="5816600" cy="18407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7990242" y="9984655"/>
            <a:ext cx="173987" cy="173987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353346" y="9948585"/>
            <a:ext cx="173987" cy="17398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675310" y="1893761"/>
            <a:ext cx="4381968" cy="641986"/>
            <a:chOff x="0" y="0"/>
            <a:chExt cx="1154099" cy="16908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54099" cy="169083"/>
            </a:xfrm>
            <a:custGeom>
              <a:avLst/>
              <a:gdLst/>
              <a:ahLst/>
              <a:cxnLst/>
              <a:rect r="r" b="b" t="t" l="l"/>
              <a:pathLst>
                <a:path h="169083" w="1154099">
                  <a:moveTo>
                    <a:pt x="84541" y="0"/>
                  </a:moveTo>
                  <a:lnTo>
                    <a:pt x="1069557" y="0"/>
                  </a:lnTo>
                  <a:cubicBezTo>
                    <a:pt x="1091979" y="0"/>
                    <a:pt x="1113482" y="8907"/>
                    <a:pt x="1129337" y="24762"/>
                  </a:cubicBezTo>
                  <a:cubicBezTo>
                    <a:pt x="1145192" y="40616"/>
                    <a:pt x="1154099" y="62120"/>
                    <a:pt x="1154099" y="84541"/>
                  </a:cubicBezTo>
                  <a:lnTo>
                    <a:pt x="1154099" y="84541"/>
                  </a:lnTo>
                  <a:cubicBezTo>
                    <a:pt x="1154099" y="106963"/>
                    <a:pt x="1145192" y="128467"/>
                    <a:pt x="1129337" y="144321"/>
                  </a:cubicBezTo>
                  <a:cubicBezTo>
                    <a:pt x="1113482" y="160176"/>
                    <a:pt x="1091979" y="169083"/>
                    <a:pt x="1069557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1154099" cy="1976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13002366" y="-47625"/>
            <a:ext cx="5063940" cy="1941386"/>
          </a:xfrm>
          <a:custGeom>
            <a:avLst/>
            <a:gdLst/>
            <a:ahLst/>
            <a:cxnLst/>
            <a:rect r="r" b="b" t="t" l="l"/>
            <a:pathLst>
              <a:path h="1941386" w="5063940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8316142" y="9882546"/>
            <a:ext cx="1743273" cy="264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7590903" y="-208256"/>
            <a:ext cx="2134862" cy="2130592"/>
          </a:xfrm>
          <a:custGeom>
            <a:avLst/>
            <a:gdLst/>
            <a:ahLst/>
            <a:cxnLst/>
            <a:rect r="r" b="b" t="t" l="l"/>
            <a:pathLst>
              <a:path h="2130592" w="213486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6388711" y="8987334"/>
            <a:ext cx="1677594" cy="1065265"/>
            <a:chOff x="0" y="0"/>
            <a:chExt cx="4028567" cy="255812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028567" cy="2558161"/>
            </a:xfrm>
            <a:custGeom>
              <a:avLst/>
              <a:gdLst/>
              <a:ahLst/>
              <a:cxnLst/>
              <a:rect r="r" b="b" t="t" l="l"/>
              <a:pathLst>
                <a:path h="2558161" w="4028567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1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6564806" y="3523271"/>
            <a:ext cx="2625805" cy="830953"/>
            <a:chOff x="0" y="0"/>
            <a:chExt cx="5816600" cy="18407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816600" cy="1840738"/>
            </a:xfrm>
            <a:custGeom>
              <a:avLst/>
              <a:gdLst/>
              <a:ahLst/>
              <a:cxnLst/>
              <a:rect r="r" b="b" t="t" l="l"/>
              <a:pathLst>
                <a:path h="1840738" w="5816600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7391149" y="2009332"/>
            <a:ext cx="3020616" cy="37274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References and Sources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88720" y="2834640"/>
            <a:ext cx="14356080" cy="566928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400" b="1">
                <a:solidFill>
                  <a:srgbClr val="000000"/>
                </a:solidFill>
                <a:latin typeface="IBM Plex Sans"/>
              </a:rPr>
              <a:t>Prior work: </a:t>
            </a:r>
            <a:r>
              <a:rPr sz="2400" b="0">
                <a:solidFill>
                  <a:srgbClr val="000000"/>
                </a:solidFill>
                <a:latin typeface="IBM Plex Sans"/>
              </a:rPr>
              <a:t>Martina et al. 2022; Pirnay et al. 2022 (forged single-qubit fingerprints; we extend to multi-qubit, calibration-informed forgery); Mutolo et al. 2025 (device fingerprinting from error syndromes, no tested forger).</a:t>
            </a:r>
          </a:p>
          <a:p>
            <a:pPr algn="l">
              <a:spcAft>
                <a:spcPts val="1320"/>
              </a:spcAft>
            </a:pPr>
            <a:r>
              <a:rPr sz="1439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400" b="1">
                <a:solidFill>
                  <a:srgbClr val="000000"/>
                </a:solidFill>
                <a:latin typeface="IBM Plex Sans"/>
              </a:rPr>
              <a:t>IBM Quantum Platform: </a:t>
            </a:r>
            <a:r>
              <a:rPr sz="2400" b="0">
                <a:solidFill>
                  <a:srgbClr val="000000"/>
                </a:solidFill>
                <a:latin typeface="IBM Plex Sans"/>
              </a:rPr>
              <a:t>Open plan, Heron backends and published calibration data (quantum.cloud.ibm.com).</a:t>
            </a:r>
          </a:p>
          <a:p>
            <a:pPr algn="l">
              <a:spcAft>
                <a:spcPts val="1320"/>
              </a:spcAft>
            </a:pPr>
            <a:r>
              <a:rPr sz="1439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400" b="1">
                <a:solidFill>
                  <a:srgbClr val="000000"/>
                </a:solidFill>
                <a:latin typeface="IBM Plex Sans"/>
              </a:rPr>
              <a:t>Software: </a:t>
            </a:r>
            <a:r>
              <a:rPr sz="2400" b="0">
                <a:solidFill>
                  <a:srgbClr val="000000"/>
                </a:solidFill>
                <a:latin typeface="IBM Plex Sans"/>
              </a:rPr>
              <a:t>Qiskit, Qiskit Aer, Qiskit IBM Runtime, scikit-learn, Streamlit, Altair.</a:t>
            </a:r>
          </a:p>
          <a:p>
            <a:pPr algn="l">
              <a:spcAft>
                <a:spcPts val="1320"/>
              </a:spcAft>
            </a:pPr>
            <a:r>
              <a:rPr sz="1439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400" b="1">
                <a:solidFill>
                  <a:srgbClr val="000000"/>
                </a:solidFill>
                <a:latin typeface="IBM Plex Sans"/>
              </a:rPr>
              <a:t>Our code: </a:t>
            </a:r>
            <a:r>
              <a:rPr sz="2400" b="0">
                <a:solidFill>
                  <a:srgbClr val="000000"/>
                </a:solidFill>
                <a:latin typeface="IBM Plex Sans"/>
              </a:rPr>
              <a:t>github.com/Karthikeya47/GhostQPU (all implementation is the team's own work).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264376" y="407706"/>
            <a:ext cx="3092172" cy="1030724"/>
          </a:xfrm>
          <a:custGeom>
            <a:avLst/>
            <a:gdLst/>
            <a:ahLst/>
            <a:cxnLst/>
            <a:rect r="r" b="b" t="t" l="l"/>
            <a:pathLst>
              <a:path h="1030724" w="3092172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DAHWTXXNjRc</dc:identifier>
  <dcterms:modified xsi:type="dcterms:W3CDTF">2011-08-01T06:04:30Z</dcterms:modified>
  <cp:revision>1</cp:revision>
  <dc:title>Q-Hack_India26</dc:title>
</cp:coreProperties>
</file>