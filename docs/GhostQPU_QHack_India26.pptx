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BM Plex Sans" panose="020B0503050203000203" pitchFamily="3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619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2397061" y="2730987"/>
            <a:ext cx="5634028" cy="6185198"/>
            <a:chOff x="0" y="0"/>
            <a:chExt cx="15229294" cy="167191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29332" cy="16719131"/>
            </a:xfrm>
            <a:custGeom>
              <a:avLst/>
              <a:gdLst/>
              <a:ahLst/>
              <a:cxnLst/>
              <a:rect l="l" t="t" r="r" b="b"/>
              <a:pathLst>
                <a:path w="15229332" h="16719131">
                  <a:moveTo>
                    <a:pt x="1287347" y="0"/>
                  </a:moveTo>
                  <a:lnTo>
                    <a:pt x="13941985" y="0"/>
                  </a:lnTo>
                  <a:cubicBezTo>
                    <a:pt x="14283410" y="0"/>
                    <a:pt x="14610852" y="135631"/>
                    <a:pt x="14852276" y="377055"/>
                  </a:cubicBezTo>
                  <a:cubicBezTo>
                    <a:pt x="15093702" y="618480"/>
                    <a:pt x="15229332" y="945922"/>
                    <a:pt x="15229332" y="1287347"/>
                  </a:cubicBezTo>
                  <a:lnTo>
                    <a:pt x="15229332" y="15431784"/>
                  </a:lnTo>
                  <a:cubicBezTo>
                    <a:pt x="15229332" y="15773209"/>
                    <a:pt x="15093702" y="16100651"/>
                    <a:pt x="14852276" y="16342077"/>
                  </a:cubicBezTo>
                  <a:cubicBezTo>
                    <a:pt x="14610852" y="16583501"/>
                    <a:pt x="14283410" y="16719131"/>
                    <a:pt x="13941985" y="16719131"/>
                  </a:cubicBezTo>
                  <a:lnTo>
                    <a:pt x="1287347" y="16719131"/>
                  </a:lnTo>
                  <a:cubicBezTo>
                    <a:pt x="945922" y="16719131"/>
                    <a:pt x="618480" y="16583501"/>
                    <a:pt x="377055" y="16342077"/>
                  </a:cubicBezTo>
                  <a:cubicBezTo>
                    <a:pt x="135631" y="16100651"/>
                    <a:pt x="0" y="15773209"/>
                    <a:pt x="0" y="15431784"/>
                  </a:cubicBezTo>
                  <a:lnTo>
                    <a:pt x="0" y="1287347"/>
                  </a:lnTo>
                  <a:cubicBezTo>
                    <a:pt x="0" y="945922"/>
                    <a:pt x="135631" y="618480"/>
                    <a:pt x="377055" y="377055"/>
                  </a:cubicBezTo>
                  <a:cubicBezTo>
                    <a:pt x="618480" y="135631"/>
                    <a:pt x="945922" y="0"/>
                    <a:pt x="1287347" y="0"/>
                  </a:cubicBezTo>
                  <a:close/>
                </a:path>
              </a:pathLst>
            </a:custGeom>
            <a:blipFill>
              <a:blip r:embed="rId3"/>
              <a:stretch>
                <a:fillRect t="-67" b="-67"/>
              </a:stretch>
            </a:blipFill>
            <a:ln w="38100" cap="rnd">
              <a:solidFill>
                <a:srgbClr val="471B2B"/>
              </a:solidFill>
              <a:prstDash val="solid"/>
              <a:round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5554011" y="1808824"/>
            <a:ext cx="5931138" cy="1977046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491128" y="4301489"/>
            <a:ext cx="3086100" cy="613411"/>
            <a:chOff x="0" y="0"/>
            <a:chExt cx="812800" cy="16155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61557"/>
            </a:xfrm>
            <a:custGeom>
              <a:avLst/>
              <a:gdLst/>
              <a:ahLst/>
              <a:cxnLst/>
              <a:rect l="l" t="t" r="r" b="b"/>
              <a:pathLst>
                <a:path w="812800" h="161557">
                  <a:moveTo>
                    <a:pt x="80778" y="0"/>
                  </a:moveTo>
                  <a:lnTo>
                    <a:pt x="732022" y="0"/>
                  </a:lnTo>
                  <a:cubicBezTo>
                    <a:pt x="776634" y="0"/>
                    <a:pt x="812800" y="36166"/>
                    <a:pt x="812800" y="80778"/>
                  </a:cubicBezTo>
                  <a:lnTo>
                    <a:pt x="812800" y="80778"/>
                  </a:lnTo>
                  <a:cubicBezTo>
                    <a:pt x="812800" y="102202"/>
                    <a:pt x="804289" y="122749"/>
                    <a:pt x="789141" y="137897"/>
                  </a:cubicBezTo>
                  <a:cubicBezTo>
                    <a:pt x="773992" y="153046"/>
                    <a:pt x="753445" y="161557"/>
                    <a:pt x="732022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91128" y="5253037"/>
            <a:ext cx="4142956" cy="613411"/>
            <a:chOff x="0" y="0"/>
            <a:chExt cx="1091149" cy="16155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49" cy="161557"/>
            </a:xfrm>
            <a:custGeom>
              <a:avLst/>
              <a:gdLst/>
              <a:ahLst/>
              <a:cxnLst/>
              <a:rect l="l" t="t" r="r" b="b"/>
              <a:pathLst>
                <a:path w="1091149" h="161557">
                  <a:moveTo>
                    <a:pt x="80778" y="0"/>
                  </a:moveTo>
                  <a:lnTo>
                    <a:pt x="1010370" y="0"/>
                  </a:lnTo>
                  <a:cubicBezTo>
                    <a:pt x="1054983" y="0"/>
                    <a:pt x="1091149" y="36166"/>
                    <a:pt x="1091149" y="80778"/>
                  </a:cubicBezTo>
                  <a:lnTo>
                    <a:pt x="1091149" y="80778"/>
                  </a:lnTo>
                  <a:cubicBezTo>
                    <a:pt x="1091149" y="102202"/>
                    <a:pt x="1082638" y="122749"/>
                    <a:pt x="1067489" y="137897"/>
                  </a:cubicBezTo>
                  <a:cubicBezTo>
                    <a:pt x="1052340" y="153046"/>
                    <a:pt x="1031794" y="161557"/>
                    <a:pt x="1010370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91149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91128" y="6152199"/>
            <a:ext cx="2306166" cy="613411"/>
            <a:chOff x="0" y="0"/>
            <a:chExt cx="607385" cy="16155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7385" cy="161557"/>
            </a:xfrm>
            <a:custGeom>
              <a:avLst/>
              <a:gdLst/>
              <a:ahLst/>
              <a:cxnLst/>
              <a:rect l="l" t="t" r="r" b="b"/>
              <a:pathLst>
                <a:path w="607385" h="161557">
                  <a:moveTo>
                    <a:pt x="80778" y="0"/>
                  </a:moveTo>
                  <a:lnTo>
                    <a:pt x="526607" y="0"/>
                  </a:lnTo>
                  <a:cubicBezTo>
                    <a:pt x="571220" y="0"/>
                    <a:pt x="607385" y="36166"/>
                    <a:pt x="607385" y="80778"/>
                  </a:cubicBezTo>
                  <a:lnTo>
                    <a:pt x="607385" y="80778"/>
                  </a:lnTo>
                  <a:cubicBezTo>
                    <a:pt x="607385" y="102202"/>
                    <a:pt x="598875" y="122749"/>
                    <a:pt x="583726" y="137897"/>
                  </a:cubicBezTo>
                  <a:cubicBezTo>
                    <a:pt x="568577" y="153046"/>
                    <a:pt x="548031" y="161557"/>
                    <a:pt x="526607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07385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91128" y="7046598"/>
            <a:ext cx="5382396" cy="641986"/>
            <a:chOff x="0" y="0"/>
            <a:chExt cx="1417586" cy="16908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040466" y="491958"/>
            <a:ext cx="5063940" cy="701725"/>
          </a:xfrm>
          <a:custGeom>
            <a:avLst/>
            <a:gdLst/>
            <a:ahLst/>
            <a:cxnLst/>
            <a:rect l="l" t="t" r="r" b="b"/>
            <a:pathLst>
              <a:path w="5063940" h="701725">
                <a:moveTo>
                  <a:pt x="0" y="0"/>
                </a:moveTo>
                <a:lnTo>
                  <a:pt x="5063940" y="0"/>
                </a:lnTo>
                <a:lnTo>
                  <a:pt x="5063940" y="701725"/>
                </a:lnTo>
                <a:lnTo>
                  <a:pt x="0" y="7017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83680" b="-92978"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97895" y="180935"/>
            <a:ext cx="1288097" cy="1323772"/>
          </a:xfrm>
          <a:custGeom>
            <a:avLst/>
            <a:gdLst/>
            <a:ahLst/>
            <a:cxnLst/>
            <a:rect l="l" t="t" r="r" b="b"/>
            <a:pathLst>
              <a:path w="1288097" h="1323772">
                <a:moveTo>
                  <a:pt x="0" y="0"/>
                </a:moveTo>
                <a:lnTo>
                  <a:pt x="1288097" y="0"/>
                </a:lnTo>
                <a:lnTo>
                  <a:pt x="1288097" y="1323771"/>
                </a:lnTo>
                <a:lnTo>
                  <a:pt x="0" y="1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8975" t="-25223" r="-28835" b="-18316"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283426" y="378579"/>
            <a:ext cx="3690501" cy="1185729"/>
          </a:xfrm>
          <a:custGeom>
            <a:avLst/>
            <a:gdLst/>
            <a:ahLst/>
            <a:cxnLst/>
            <a:rect l="l" t="t" r="r" b="b"/>
            <a:pathLst>
              <a:path w="3690501" h="1185729">
                <a:moveTo>
                  <a:pt x="0" y="0"/>
                </a:moveTo>
                <a:lnTo>
                  <a:pt x="3690501" y="0"/>
                </a:lnTo>
                <a:lnTo>
                  <a:pt x="3690501" y="1185729"/>
                </a:lnTo>
                <a:lnTo>
                  <a:pt x="0" y="11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0769" b="-7813"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9966719" y="336677"/>
            <a:ext cx="3036860" cy="1012287"/>
          </a:xfrm>
          <a:custGeom>
            <a:avLst/>
            <a:gdLst/>
            <a:ahLst/>
            <a:cxnLst/>
            <a:rect l="l" t="t" r="r" b="b"/>
            <a:pathLst>
              <a:path w="3036860" h="1012287">
                <a:moveTo>
                  <a:pt x="0" y="0"/>
                </a:moveTo>
                <a:lnTo>
                  <a:pt x="3036860" y="0"/>
                </a:lnTo>
                <a:lnTo>
                  <a:pt x="3036860" y="1012287"/>
                </a:lnTo>
                <a:lnTo>
                  <a:pt x="0" y="10122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4634084" y="173017"/>
            <a:ext cx="2192261" cy="1276152"/>
          </a:xfrm>
          <a:custGeom>
            <a:avLst/>
            <a:gdLst/>
            <a:ahLst/>
            <a:cxnLst/>
            <a:rect l="l" t="t" r="r" b="b"/>
            <a:pathLst>
              <a:path w="2192261" h="1276152">
                <a:moveTo>
                  <a:pt x="0" y="0"/>
                </a:moveTo>
                <a:lnTo>
                  <a:pt x="2192261" y="0"/>
                </a:lnTo>
                <a:lnTo>
                  <a:pt x="2192261" y="1276152"/>
                </a:lnTo>
                <a:lnTo>
                  <a:pt x="0" y="1276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518" y="4263389"/>
            <a:ext cx="2571155" cy="58039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Name: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7468" y="5200650"/>
            <a:ext cx="3711416" cy="6229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Lead Name: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1877" y="6085524"/>
            <a:ext cx="1347142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Track: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6518" y="7008498"/>
            <a:ext cx="5016937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Statement title: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6723" y="4303632"/>
            <a:ext cx="153439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 b="1" dirty="0" err="1">
                <a:solidFill>
                  <a:srgbClr val="000000"/>
                </a:solidFill>
                <a:latin typeface="IBM Plex Sans"/>
              </a:rPr>
              <a:t>lwyrup</a:t>
            </a:r>
            <a:endParaRPr sz="3200" b="1" dirty="0">
              <a:solidFill>
                <a:srgbClr val="000000"/>
              </a:solidFill>
              <a:latin typeface="IBM Plex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6553" y="5323762"/>
            <a:ext cx="3438762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Neelagiri Karthikeya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7294" y="6197294"/>
            <a:ext cx="5681363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Quantum Security &amp; Cryptography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7940" y="7088664"/>
            <a:ext cx="6538970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Detecting Faked Quantum Cloud Jobs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211399" y="1893761"/>
            <a:ext cx="3009085" cy="641986"/>
            <a:chOff x="0" y="0"/>
            <a:chExt cx="79251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92516" cy="169083"/>
            </a:xfrm>
            <a:custGeom>
              <a:avLst/>
              <a:gdLst/>
              <a:ahLst/>
              <a:cxnLst/>
              <a:rect l="l" t="t" r="r" b="b"/>
              <a:pathLst>
                <a:path w="792516" h="169083">
                  <a:moveTo>
                    <a:pt x="84541" y="0"/>
                  </a:moveTo>
                  <a:lnTo>
                    <a:pt x="707975" y="0"/>
                  </a:lnTo>
                  <a:cubicBezTo>
                    <a:pt x="730397" y="0"/>
                    <a:pt x="751900" y="8907"/>
                    <a:pt x="767755" y="24762"/>
                  </a:cubicBezTo>
                  <a:cubicBezTo>
                    <a:pt x="783609" y="40616"/>
                    <a:pt x="792516" y="62120"/>
                    <a:pt x="792516" y="84541"/>
                  </a:cubicBezTo>
                  <a:lnTo>
                    <a:pt x="792516" y="84541"/>
                  </a:lnTo>
                  <a:cubicBezTo>
                    <a:pt x="792516" y="106963"/>
                    <a:pt x="783609" y="128467"/>
                    <a:pt x="767755" y="144321"/>
                  </a:cubicBezTo>
                  <a:cubicBezTo>
                    <a:pt x="751900" y="160176"/>
                    <a:pt x="730397" y="169083"/>
                    <a:pt x="70797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79251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969539" y="1887412"/>
            <a:ext cx="1492806" cy="53086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39"/>
              </a:lnSpc>
              <a:spcBef>
                <a:spcPct val="0"/>
              </a:spcBef>
            </a:pPr>
            <a:r>
              <a:rPr lang="en-US" sz="30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1270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39"/>
              </a:lnSpc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Quantum time is rented over the cloud,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often through resellers and marketplaces, and billed per second of QPU time.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Customers only get back bitstrings.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There is no way to check that the job actually ran on quantum hardware.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publishes every device's calibration daily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(gate and readout error rates). Anyone can build a realistic noisy simulator from it.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The attack: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a dishonest provider runs small jobs on a laptop simulator built from that public data, returns believably noisy results, and still bills for QPU time.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93915" y="1893761"/>
            <a:ext cx="3272797" cy="641986"/>
            <a:chOff x="0" y="0"/>
            <a:chExt cx="86197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61971" cy="169083"/>
            </a:xfrm>
            <a:custGeom>
              <a:avLst/>
              <a:gdLst/>
              <a:ahLst/>
              <a:cxnLst/>
              <a:rect l="l" t="t" r="r" b="b"/>
              <a:pathLst>
                <a:path w="861971" h="169083">
                  <a:moveTo>
                    <a:pt x="84541" y="0"/>
                  </a:moveTo>
                  <a:lnTo>
                    <a:pt x="777430" y="0"/>
                  </a:lnTo>
                  <a:cubicBezTo>
                    <a:pt x="799852" y="0"/>
                    <a:pt x="821355" y="8907"/>
                    <a:pt x="837210" y="24762"/>
                  </a:cubicBezTo>
                  <a:cubicBezTo>
                    <a:pt x="853064" y="40616"/>
                    <a:pt x="861971" y="62120"/>
                    <a:pt x="861971" y="84541"/>
                  </a:cubicBezTo>
                  <a:lnTo>
                    <a:pt x="861971" y="84541"/>
                  </a:lnTo>
                  <a:cubicBezTo>
                    <a:pt x="861971" y="106963"/>
                    <a:pt x="853064" y="128467"/>
                    <a:pt x="837210" y="144321"/>
                  </a:cubicBezTo>
                  <a:cubicBezTo>
                    <a:pt x="821355" y="160176"/>
                    <a:pt x="799852" y="169083"/>
                    <a:pt x="777430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6197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44244"/>
            <a:ext cx="2266474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It Matters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Who is affected: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researchers, startups and students paying for QPU time or spending limited free credits.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Silent corruption: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faked results poison benchmarks, papers and error-mitigation studies, and nobody notices.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Trust in the execution layer is a security problem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as quantum access moves to resellers and multi-vendor marketplaces.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gap: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prior device-fingerprinting work (2025) argues forgery is hard, but only for circuits too large to simulate, and never tests a real forger. Small, simulable jobs, common today, are unprotected.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71046" y="1893761"/>
            <a:ext cx="4012244" cy="641986"/>
            <a:chOff x="0" y="0"/>
            <a:chExt cx="1056723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6723" cy="169083"/>
            </a:xfrm>
            <a:custGeom>
              <a:avLst/>
              <a:gdLst/>
              <a:ahLst/>
              <a:cxnLst/>
              <a:rect l="l" t="t" r="r" b="b"/>
              <a:pathLst>
                <a:path w="1056723" h="169083">
                  <a:moveTo>
                    <a:pt x="84541" y="0"/>
                  </a:moveTo>
                  <a:lnTo>
                    <a:pt x="972181" y="0"/>
                  </a:lnTo>
                  <a:cubicBezTo>
                    <a:pt x="994603" y="0"/>
                    <a:pt x="1016106" y="8907"/>
                    <a:pt x="1031961" y="24762"/>
                  </a:cubicBezTo>
                  <a:cubicBezTo>
                    <a:pt x="1047816" y="40616"/>
                    <a:pt x="1056723" y="62120"/>
                    <a:pt x="1056723" y="84541"/>
                  </a:cubicBezTo>
                  <a:lnTo>
                    <a:pt x="1056723" y="84541"/>
                  </a:lnTo>
                  <a:cubicBezTo>
                    <a:pt x="1056723" y="106963"/>
                    <a:pt x="1047816" y="128467"/>
                    <a:pt x="1031961" y="144321"/>
                  </a:cubicBezTo>
                  <a:cubicBezTo>
                    <a:pt x="1016106" y="160176"/>
                    <a:pt x="994603" y="169083"/>
                    <a:pt x="97218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56723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638528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26063" y="1937259"/>
            <a:ext cx="3027283" cy="49784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Proposed Solution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19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  <a:spcAft>
                <a:spcPts val="1430"/>
              </a:spcAft>
            </a:pPr>
            <a:r>
              <a:rPr sz="3200" b="1" dirty="0" err="1">
                <a:latin typeface="IBM Plex Sans"/>
              </a:rPr>
              <a:t>GhostQPU</a:t>
            </a:r>
            <a:r>
              <a:rPr sz="3200" b="1" dirty="0">
                <a:latin typeface="IBM Plex Sans"/>
              </a:rPr>
              <a:t>: proof that your quantum job really ran on a quantum computer.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Hidden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30 small test circuits ride inside each 34-circuit job, compiled and shuffled so the provider can't tell which are tests.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Physics a simulator leaves out: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canaries trigger coherent error build-up, neighbor crosstalk, context-dependent readout and drift.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Detector: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turns canary results into a verdict (Genuine, Forged or Inconclusive). One command: python -m ghostqpu verify &lt;job&gt;.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We built the attacker too: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Forger using the exact calibration live when each job ran, plus a stronger Forger that learns hardware effects.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Disguised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random circuit followed by its reverse looks like customer work, yet still exposes the Forger.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06921" y="1893761"/>
            <a:ext cx="3533419" cy="641986"/>
            <a:chOff x="0" y="0"/>
            <a:chExt cx="930612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30612" cy="169083"/>
            </a:xfrm>
            <a:custGeom>
              <a:avLst/>
              <a:gdLst/>
              <a:ahLst/>
              <a:cxnLst/>
              <a:rect l="l" t="t" r="r" b="b"/>
              <a:pathLst>
                <a:path w="930612" h="169083">
                  <a:moveTo>
                    <a:pt x="84541" y="0"/>
                  </a:moveTo>
                  <a:lnTo>
                    <a:pt x="846071" y="0"/>
                  </a:lnTo>
                  <a:cubicBezTo>
                    <a:pt x="868493" y="0"/>
                    <a:pt x="889996" y="8907"/>
                    <a:pt x="905851" y="24762"/>
                  </a:cubicBezTo>
                  <a:cubicBezTo>
                    <a:pt x="921705" y="40616"/>
                    <a:pt x="930612" y="62120"/>
                    <a:pt x="930612" y="84541"/>
                  </a:cubicBezTo>
                  <a:lnTo>
                    <a:pt x="930612" y="84541"/>
                  </a:lnTo>
                  <a:cubicBezTo>
                    <a:pt x="930612" y="106963"/>
                    <a:pt x="921705" y="128467"/>
                    <a:pt x="905851" y="144321"/>
                  </a:cubicBezTo>
                  <a:cubicBezTo>
                    <a:pt x="889996" y="160176"/>
                    <a:pt x="868493" y="169083"/>
                    <a:pt x="84607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30612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135716" y="-2857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63294"/>
            <a:ext cx="2342555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Quantum?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evidence is quantum: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the fingerprint is the physical noise of the real chip, which only exists on quantum hardware.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Canaries amplify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128 repeated X gates turn tiny coherent over-rotations into a 91% error on ibm_kingston, where the Forger predicts 2%.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Why calibration can't fake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published calibration describes each gate on its own with average error rates. Real qubits have coherent, correlated, time-varying noise.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Real hardware: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three 156-qubit IBM Heron devices (ibm_marrakesh, ibm_fez, ibm_kingston) through Qiskit Runtime, on the free plan.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97750" y="1893761"/>
            <a:ext cx="5382396" cy="641986"/>
            <a:chOff x="0" y="0"/>
            <a:chExt cx="141758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298992" y="1988059"/>
            <a:ext cx="4566285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Implementation and Architecture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743200"/>
            <a:ext cx="14356080" cy="6183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  <a:spcAft>
                <a:spcPts val="1210"/>
              </a:spcAft>
            </a:pPr>
            <a:r>
              <a:rPr sz="3200" b="1" dirty="0">
                <a:latin typeface="IBM Plex Sans"/>
              </a:rPr>
              <a:t>Pipeline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Calibration snapshot → Batch builder (canaries + workload, shuffled) → IBM QPU (Qiskit Runtime Sampler, twirling and dynamical decoupling off) → Collect, plus the calibration live at execution → Forger (Qiskit Aer + that calibration) → Signature (12 features per time chunk) → Detector → Verdict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Quantum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3 canary families on 4 isolated qubit pairs at transpiler level 0, plus CNOT and disguised mirror pilot circuits.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Classical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Python, Qiskit 2.5, Qiskit Aer, scikit-learn logistic regression, Next.js + three.js site deployed on GitHub Pages.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Engineering: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CLI (submit / collect / verify / evaluate / null-test), 36 automated tests, hardware-simulator bit-order parity test, seeded Forger.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68821" y="1903286"/>
            <a:ext cx="3925250" cy="641986"/>
            <a:chOff x="0" y="0"/>
            <a:chExt cx="103381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33811" cy="169083"/>
            </a:xfrm>
            <a:custGeom>
              <a:avLst/>
              <a:gdLst/>
              <a:ahLst/>
              <a:cxnLst/>
              <a:rect l="l" t="t" r="r" b="b"/>
              <a:pathLst>
                <a:path w="1033811" h="169083">
                  <a:moveTo>
                    <a:pt x="84541" y="0"/>
                  </a:moveTo>
                  <a:lnTo>
                    <a:pt x="949269" y="0"/>
                  </a:lnTo>
                  <a:cubicBezTo>
                    <a:pt x="971691" y="0"/>
                    <a:pt x="993195" y="8907"/>
                    <a:pt x="1009049" y="24762"/>
                  </a:cubicBezTo>
                  <a:cubicBezTo>
                    <a:pt x="1024904" y="40616"/>
                    <a:pt x="1033811" y="62120"/>
                    <a:pt x="1033811" y="84541"/>
                  </a:cubicBezTo>
                  <a:lnTo>
                    <a:pt x="1033811" y="84541"/>
                  </a:lnTo>
                  <a:cubicBezTo>
                    <a:pt x="1033811" y="106963"/>
                    <a:pt x="1024904" y="128467"/>
                    <a:pt x="1009049" y="144321"/>
                  </a:cubicBezTo>
                  <a:cubicBezTo>
                    <a:pt x="993195" y="160176"/>
                    <a:pt x="971691" y="169083"/>
                    <a:pt x="949269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3381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362389" y="1945514"/>
            <a:ext cx="2915245" cy="48133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Prototype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834640"/>
            <a:ext cx="14356080" cy="5134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Working end-to-end tool: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 -m ghostqpu submit / collect / verify / evaluate / null-test.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Real hardware runs: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24 jobs on ibm_marrakesh, ibm_fez and ibm_kingston over 18 calibration cycles and 4 days, each with a forged twin.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Live site: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jacklachan.github.io/GhostQPU, a six-chapter story with a console that replays real IBM jobs for a blind verdict.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Interactive: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a Bloch sphere driven by measured data, and a lab where you play the Forger against the real frozen Detector.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Pilots on hardware: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CNOT canaries, disguised mirror canaries and real 250-shot cost checks on all three machines.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Open: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every run, calibration snapshot and research note is in the GitHub repo.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045033" y="1893761"/>
            <a:ext cx="3482300" cy="641986"/>
            <a:chOff x="0" y="0"/>
            <a:chExt cx="91714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17149" cy="169083"/>
            </a:xfrm>
            <a:custGeom>
              <a:avLst/>
              <a:gdLst/>
              <a:ahLst/>
              <a:cxnLst/>
              <a:rect l="l" t="t" r="r" b="b"/>
              <a:pathLst>
                <a:path w="917149" h="169083">
                  <a:moveTo>
                    <a:pt x="84541" y="0"/>
                  </a:moveTo>
                  <a:lnTo>
                    <a:pt x="832608" y="0"/>
                  </a:lnTo>
                  <a:cubicBezTo>
                    <a:pt x="855029" y="0"/>
                    <a:pt x="876533" y="8907"/>
                    <a:pt x="892387" y="24762"/>
                  </a:cubicBezTo>
                  <a:cubicBezTo>
                    <a:pt x="908242" y="40616"/>
                    <a:pt x="917149" y="62120"/>
                    <a:pt x="917149" y="84541"/>
                  </a:cubicBezTo>
                  <a:lnTo>
                    <a:pt x="917149" y="84541"/>
                  </a:lnTo>
                  <a:cubicBezTo>
                    <a:pt x="917149" y="106963"/>
                    <a:pt x="908242" y="128467"/>
                    <a:pt x="892387" y="144321"/>
                  </a:cubicBezTo>
                  <a:cubicBezTo>
                    <a:pt x="876533" y="160176"/>
                    <a:pt x="855029" y="169083"/>
                    <a:pt x="83260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1714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550865" y="1969009"/>
            <a:ext cx="2641044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Results /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5852160"/>
            <a:ext cx="14356080" cy="3291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Frozen Detector, scored blind: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48 of 48 later jobs correct (24 real, 24 forged), 18 cycles, 3 machines.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Held out by cycle: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1.00, 52 of 52 over 19 cycles. Trained only on earlier days: 48 of 48.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Null test: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simulator vs Forger scores AUC 0.52 (chance), so it detects physics, not formatting.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Cost: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1.5 QPU seconds of canaries still calls all 52 jobs right.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Why AUC is 1.00: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public calibration has no coherent error, so the Forger is 2-4% wrong where hardware is 30-90%.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Smarter Forger: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learning from a real job fooled the frozen Detector 12/13; retrained, caught 12/13.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88720" y="2880360"/>
          <a:ext cx="14356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Canary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Real hardware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Forger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Error after 128 X gates (kingston)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91%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2%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Idle-qubit shift from neighbor (fez)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Disguised canary all-zero rate (marrakesh)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76%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88%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798248" y="1922336"/>
            <a:ext cx="2642092" cy="641986"/>
            <a:chOff x="0" y="0"/>
            <a:chExt cx="695860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5860" cy="169083"/>
            </a:xfrm>
            <a:custGeom>
              <a:avLst/>
              <a:gdLst/>
              <a:ahLst/>
              <a:cxnLst/>
              <a:rect l="l" t="t" r="r" b="b"/>
              <a:pathLst>
                <a:path w="695860" h="169083">
                  <a:moveTo>
                    <a:pt x="84541" y="0"/>
                  </a:moveTo>
                  <a:lnTo>
                    <a:pt x="611318" y="0"/>
                  </a:lnTo>
                  <a:cubicBezTo>
                    <a:pt x="633740" y="0"/>
                    <a:pt x="655243" y="8907"/>
                    <a:pt x="671098" y="24762"/>
                  </a:cubicBezTo>
                  <a:cubicBezTo>
                    <a:pt x="686953" y="40616"/>
                    <a:pt x="695860" y="62120"/>
                    <a:pt x="695860" y="84541"/>
                  </a:cubicBezTo>
                  <a:lnTo>
                    <a:pt x="695860" y="84541"/>
                  </a:lnTo>
                  <a:cubicBezTo>
                    <a:pt x="695860" y="106963"/>
                    <a:pt x="686953" y="128467"/>
                    <a:pt x="671098" y="144321"/>
                  </a:cubicBezTo>
                  <a:cubicBezTo>
                    <a:pt x="655243" y="160176"/>
                    <a:pt x="633740" y="169083"/>
                    <a:pt x="61131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95860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990242" y="-23683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8499623" y="1988059"/>
            <a:ext cx="1306116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Roadmap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Done since 10 Oct: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cross-day and cross-backend validation (ibm_fez, ibm_kingston), 85% lower canary cost, disguised canaries.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Canary-aware forger: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our stronger Forger fooled the original Detector; next, require evidence from two canary families.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CNOT canary family: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73% vs 10% on marrakesh qubits 107-108, detected on 13 of 16 pairs; make it a production family.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Customer SDK: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 drop-in wrapper that injects canaries into every job and returns a signed verification report.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Scale the evidence: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weeks of daily runs and more cloud providers to tighten the false-alarm bound.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75310" y="1893761"/>
            <a:ext cx="4381968" cy="641986"/>
            <a:chOff x="0" y="0"/>
            <a:chExt cx="115409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54099" cy="169083"/>
            </a:xfrm>
            <a:custGeom>
              <a:avLst/>
              <a:gdLst/>
              <a:ahLst/>
              <a:cxnLst/>
              <a:rect l="l" t="t" r="r" b="b"/>
              <a:pathLst>
                <a:path w="1154099" h="169083">
                  <a:moveTo>
                    <a:pt x="84541" y="0"/>
                  </a:moveTo>
                  <a:lnTo>
                    <a:pt x="1069557" y="0"/>
                  </a:lnTo>
                  <a:cubicBezTo>
                    <a:pt x="1091979" y="0"/>
                    <a:pt x="1113482" y="8907"/>
                    <a:pt x="1129337" y="24762"/>
                  </a:cubicBezTo>
                  <a:cubicBezTo>
                    <a:pt x="1145192" y="40616"/>
                    <a:pt x="1154099" y="62120"/>
                    <a:pt x="1154099" y="84541"/>
                  </a:cubicBezTo>
                  <a:lnTo>
                    <a:pt x="1154099" y="84541"/>
                  </a:lnTo>
                  <a:cubicBezTo>
                    <a:pt x="1154099" y="106963"/>
                    <a:pt x="1145192" y="128467"/>
                    <a:pt x="1129337" y="144321"/>
                  </a:cubicBezTo>
                  <a:cubicBezTo>
                    <a:pt x="1113482" y="160176"/>
                    <a:pt x="1091979" y="169083"/>
                    <a:pt x="1069557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15409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91149" y="2009332"/>
            <a:ext cx="3020616" cy="37274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References and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78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Prior work: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Martina et al. 2022; Pirnay et al. 2022 (forged single-qubit fingerprints); Mutolo et al. 2025 (fingerprinting, no tested forger); Wu, Hu, Li 2024 (catches device substitution, not simulation).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Quantum Platform: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Open plan, Heron backends and published calibration data (quantum.cloud.ibm.com).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Software: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Qiskit, Qiskit Aer, Qiskit IBM Runtime, scikit-learn, Next.js, three.js.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Our code and site: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github.com/Karthikeya47/GhostQPU · jacklachan.github.io/GhostQPU (all implementation is the team's own work).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Team lwyrup: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Neelagiri Karthikeya (lead), L Mohit Jain, Tanvi Jain, Aditi Gorti.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1093</Words>
  <Application>Microsoft Office PowerPoint</Application>
  <PresentationFormat>Custom</PresentationFormat>
  <Paragraphs>80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Q-Hack_India26</dc:title>
  <cp:lastModifiedBy>Karthikeya Neelagiri</cp:lastModifiedBy>
  <cp:revision>3</cp:revision>
  <dcterms:created xsi:type="dcterms:W3CDTF">2006-08-16T00:00:00Z</dcterms:created>
  <dcterms:modified xsi:type="dcterms:W3CDTF">2026-10-10T18:28:00Z</dcterms:modified>
  <dc:identifier>DAHWTXXNjRc</dc:identifier>
</cp:coreProperties>
</file>